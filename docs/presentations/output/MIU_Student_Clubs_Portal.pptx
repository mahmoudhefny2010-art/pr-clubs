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iu-logo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iu-logo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rgbClr val="17253A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9321800" y="1041400"/>
            <a:ext cx="2032000" cy="203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5" name="MIU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0" y="1422400"/>
            <a:ext cx="1676400" cy="1219200"/>
          </a:xfrm>
          <a:prstGeom prst="rect">
            <a:avLst/>
          </a:prstGeom>
        </p:spPr>
      </p:pic>
      <p:sp>
        <p:nvSpPr>
          <p:cNvPr id="6" name="Text 6"/>
          <p:cNvSpPr txBox="1"/>
          <p:nvPr/>
        </p:nvSpPr>
        <p:spPr>
          <a:xfrm>
            <a:off x="812800" y="939800"/>
            <a:ext cx="7747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300" b="1" dirty="0">
                <a:solidFill>
                  <a:srgbClr val="FFB6B8"/>
                </a:solidFill>
                <a:latin typeface="Arial"/>
                <a:ea typeface="Arial"/>
                <a:cs typeface="Arial"/>
              </a:rPr>
              <a:t xml:space="preserve">MIU STUDENT CLUBS PORTAL</a:t>
            </a:r>
            <a:endParaRPr lang="en-US" sz="1300"/>
          </a:p>
        </p:txBody>
      </p:sp>
      <p:sp>
        <p:nvSpPr>
          <p:cNvPr id="7" name="Text 7"/>
          <p:cNvSpPr txBox="1"/>
          <p:nvPr/>
        </p:nvSpPr>
        <p:spPr>
          <a:xfrm>
            <a:off x="812800" y="1676400"/>
            <a:ext cx="7747000" cy="152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A connected home for</a:t>
            </a:r>
            <a:endParaRPr lang="en-US" sz="3600"/>
          </a:p>
          <a:p>
            <a:pPr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student clubs</a:t>
            </a:r>
            <a:endParaRPr lang="en-US" sz="3600"/>
          </a:p>
        </p:txBody>
      </p:sp>
      <p:sp>
        <p:nvSpPr>
          <p:cNvPr id="8" name="Text 8"/>
          <p:cNvSpPr txBox="1"/>
          <p:nvPr/>
        </p:nvSpPr>
        <p:spPr>
          <a:xfrm>
            <a:off x="812800" y="3505200"/>
            <a:ext cx="7747000" cy="990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900" b="0" dirty="0">
                <a:solidFill>
                  <a:srgbClr val="D4DCE8"/>
                </a:solidFill>
                <a:latin typeface="Arial"/>
                <a:ea typeface="Arial"/>
                <a:cs typeface="Arial"/>
              </a:rPr>
              <a:t xml:space="preserve">Features, roles, approval workflows, analytics, and a roadmap for Misr International University.</a:t>
            </a:r>
            <a:endParaRPr lang="en-US" sz="1900"/>
          </a:p>
        </p:txBody>
      </p:sp>
      <p:sp>
        <p:nvSpPr>
          <p:cNvPr id="9" name="Connector 9"/>
          <p:cNvSpPr/>
          <p:nvPr/>
        </p:nvSpPr>
        <p:spPr>
          <a:xfrm>
            <a:off x="812800" y="4876800"/>
            <a:ext cx="4140200" cy="12700"/>
          </a:xfrm>
          <a:prstGeom prst="line">
            <a:avLst/>
          </a:prstGeom>
          <a:ln w="38100">
            <a:solidFill>
              <a:srgbClr val="C9222A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812800" y="5118100"/>
            <a:ext cx="7747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Prepared for Misr International University</a:t>
            </a:r>
            <a:endParaRPr lang="en-US" sz="1500"/>
          </a:p>
        </p:txBody>
      </p:sp>
      <p:sp>
        <p:nvSpPr>
          <p:cNvPr id="11" name="Text 11"/>
          <p:cNvSpPr txBox="1"/>
          <p:nvPr/>
        </p:nvSpPr>
        <p:spPr>
          <a:xfrm>
            <a:off x="812800" y="5740400"/>
            <a:ext cx="7747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100" b="0" dirty="0">
                <a:solidFill>
                  <a:srgbClr val="A8B5C7"/>
                </a:solidFill>
                <a:latin typeface="Arial"/>
                <a:ea typeface="Arial"/>
                <a:cs typeface="Arial"/>
              </a:rPr>
              <a:t xml:space="preserve">October 2026  ·  Based on the current portal</a:t>
            </a:r>
            <a:endParaRPr lang="en-US" sz="1100"/>
          </a:p>
        </p:txBody>
      </p:sp>
      <p:sp>
        <p:nvSpPr>
          <p:cNvPr id="12" name="Text 12"/>
          <p:cNvSpPr txBox="1"/>
          <p:nvPr/>
        </p:nvSpPr>
        <p:spPr>
          <a:xfrm>
            <a:off x="812800" y="6400800"/>
            <a:ext cx="1143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000" b="0" dirty="0">
                <a:solidFill>
                  <a:srgbClr val="A8B5C7"/>
                </a:solidFill>
                <a:latin typeface="Arial"/>
                <a:ea typeface="Arial"/>
                <a:cs typeface="Arial"/>
              </a:rPr>
              <a:t xml:space="preserve">01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58800" y="215900"/>
            <a:ext cx="11074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000" b="1" dirty="0">
                <a:solidFill>
                  <a:srgbClr val="C9222A"/>
                </a:solidFill>
                <a:latin typeface="Arial"/>
                <a:ea typeface="Arial"/>
                <a:cs typeface="Arial"/>
              </a:rPr>
              <a:t xml:space="preserve">MIU STUDENT CLUBS PORTAL  ·  PROJECT OVERVIEW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58800" y="546100"/>
            <a:ext cx="110744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2700" b="1" dirty="0">
                <a:solidFill>
                  <a:srgbClr val="101A2A"/>
                </a:solidFill>
                <a:latin typeface="Arial"/>
                <a:ea typeface="Arial"/>
                <a:cs typeface="Arial"/>
              </a:rPr>
              <a:t xml:space="preserve">The idea in one minute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58800" y="1104900"/>
            <a:ext cx="11074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300" b="0" dirty="0">
                <a:solidFill>
                  <a:srgbClr val="65738A"/>
                </a:solidFill>
                <a:latin typeface="Arial"/>
                <a:ea typeface="Arial"/>
                <a:cs typeface="Arial"/>
              </a:rPr>
              <a:t xml:space="preserve">One portal connects student discovery with club operations and university review.</a:t>
            </a:r>
            <a:endParaRPr lang="en-US" sz="1300"/>
          </a:p>
        </p:txBody>
      </p:sp>
      <p:sp>
        <p:nvSpPr>
          <p:cNvPr id="6" name="Connector 6"/>
          <p:cNvSpPr/>
          <p:nvPr/>
        </p:nvSpPr>
        <p:spPr>
          <a:xfrm>
            <a:off x="558800" y="6413500"/>
            <a:ext cx="11074400" cy="12700"/>
          </a:xfrm>
          <a:prstGeom prst="line">
            <a:avLst/>
          </a:prstGeom>
          <a:ln w="12700">
            <a:solidFill>
              <a:srgbClr val="DEE4EC"/>
            </a:solidFill>
          </a:ln>
        </p:spPr>
      </p:sp>
      <p:sp>
        <p:nvSpPr>
          <p:cNvPr id="7" name="Shape 7"/>
          <p:cNvSpPr/>
          <p:nvPr/>
        </p:nvSpPr>
        <p:spPr>
          <a:xfrm>
            <a:off x="558800" y="1841500"/>
            <a:ext cx="3539067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8" name="Shape 8"/>
          <p:cNvSpPr/>
          <p:nvPr/>
        </p:nvSpPr>
        <p:spPr>
          <a:xfrm>
            <a:off x="584200" y="1968500"/>
            <a:ext cx="38100" cy="39370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36600" y="1993900"/>
            <a:ext cx="3132667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Discover</a:t>
            </a:r>
            <a:endParaRPr lang="en-US" sz="1700"/>
          </a:p>
        </p:txBody>
      </p:sp>
      <p:sp>
        <p:nvSpPr>
          <p:cNvPr id="10" name="Text 10"/>
          <p:cNvSpPr txBox="1"/>
          <p:nvPr/>
        </p:nvSpPr>
        <p:spPr>
          <a:xfrm>
            <a:off x="736600" y="2425700"/>
            <a:ext cx="3132667" cy="3505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Explore clubs, events, calendars, announcements, sponsors, and booths.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4326467" y="1841500"/>
            <a:ext cx="3539067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2" name="Shape 12"/>
          <p:cNvSpPr/>
          <p:nvPr/>
        </p:nvSpPr>
        <p:spPr>
          <a:xfrm>
            <a:off x="4351867" y="1968500"/>
            <a:ext cx="38100" cy="3937000"/>
          </a:xfrm>
          <a:prstGeom prst="rect">
            <a:avLst/>
          </a:prstGeom>
          <a:solidFill>
            <a:srgbClr val="2872D6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4504267" y="1993900"/>
            <a:ext cx="3132667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Participate</a:t>
            </a:r>
            <a:endParaRPr lang="en-US" sz="1700"/>
          </a:p>
        </p:txBody>
      </p:sp>
      <p:sp>
        <p:nvSpPr>
          <p:cNvPr id="14" name="Text 14"/>
          <p:cNvSpPr txBox="1"/>
          <p:nvPr/>
        </p:nvSpPr>
        <p:spPr>
          <a:xfrm>
            <a:off x="4504267" y="2425700"/>
            <a:ext cx="3132667" cy="3505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Apply to clubs, register for eligible events, and track activity.</a:t>
            </a:r>
            <a:endParaRPr lang="en-US" sz="1400"/>
          </a:p>
        </p:txBody>
      </p:sp>
      <p:sp>
        <p:nvSpPr>
          <p:cNvPr id="15" name="Shape 15"/>
          <p:cNvSpPr/>
          <p:nvPr/>
        </p:nvSpPr>
        <p:spPr>
          <a:xfrm>
            <a:off x="8094133" y="1841500"/>
            <a:ext cx="3539067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6" name="Shape 16"/>
          <p:cNvSpPr/>
          <p:nvPr/>
        </p:nvSpPr>
        <p:spPr>
          <a:xfrm>
            <a:off x="8119533" y="1968500"/>
            <a:ext cx="38100" cy="3937000"/>
          </a:xfrm>
          <a:prstGeom prst="rect">
            <a:avLst/>
          </a:prstGeom>
          <a:solidFill>
            <a:srgbClr val="18956D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8271933" y="1993900"/>
            <a:ext cx="3132667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Govern</a:t>
            </a:r>
            <a:endParaRPr lang="en-US" sz="1700"/>
          </a:p>
        </p:txBody>
      </p:sp>
      <p:sp>
        <p:nvSpPr>
          <p:cNvPr id="18" name="Text 18"/>
          <p:cNvSpPr txBox="1"/>
          <p:nvPr/>
        </p:nvSpPr>
        <p:spPr>
          <a:xfrm>
            <a:off x="8271933" y="2425700"/>
            <a:ext cx="3132667" cy="3505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Give each club and reviewer a role-based workspace with clear approval paths.</a:t>
            </a:r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58800" y="215900"/>
            <a:ext cx="11074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000" b="1" dirty="0">
                <a:solidFill>
                  <a:srgbClr val="C9222A"/>
                </a:solidFill>
                <a:latin typeface="Arial"/>
                <a:ea typeface="Arial"/>
                <a:cs typeface="Arial"/>
              </a:rPr>
              <a:t xml:space="preserve">MIU STUDENT CLUBS PORTAL  ·  PROJECT OVERVIEW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58800" y="546100"/>
            <a:ext cx="110744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2700" b="1" dirty="0">
                <a:solidFill>
                  <a:srgbClr val="101A2A"/>
                </a:solidFill>
                <a:latin typeface="Arial"/>
                <a:ea typeface="Arial"/>
                <a:cs typeface="Arial"/>
              </a:rPr>
              <a:t xml:space="preserve">What the portal includes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58800" y="1104900"/>
            <a:ext cx="11074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300" b="0" dirty="0">
                <a:solidFill>
                  <a:srgbClr val="65738A"/>
                </a:solidFill>
                <a:latin typeface="Arial"/>
                <a:ea typeface="Arial"/>
                <a:cs typeface="Arial"/>
              </a:rPr>
              <a:t xml:space="preserve">Three connected layers serve students, clubs, and the university.</a:t>
            </a:r>
            <a:endParaRPr lang="en-US" sz="1300"/>
          </a:p>
        </p:txBody>
      </p:sp>
      <p:sp>
        <p:nvSpPr>
          <p:cNvPr id="6" name="Connector 6"/>
          <p:cNvSpPr/>
          <p:nvPr/>
        </p:nvSpPr>
        <p:spPr>
          <a:xfrm>
            <a:off x="558800" y="6413500"/>
            <a:ext cx="11074400" cy="12700"/>
          </a:xfrm>
          <a:prstGeom prst="line">
            <a:avLst/>
          </a:prstGeom>
          <a:ln w="12700">
            <a:solidFill>
              <a:srgbClr val="DEE4EC"/>
            </a:solidFill>
          </a:ln>
        </p:spPr>
      </p:sp>
      <p:sp>
        <p:nvSpPr>
          <p:cNvPr id="7" name="Shape 7"/>
          <p:cNvSpPr/>
          <p:nvPr/>
        </p:nvSpPr>
        <p:spPr>
          <a:xfrm>
            <a:off x="558800" y="1841500"/>
            <a:ext cx="3539067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8" name="Shape 8"/>
          <p:cNvSpPr/>
          <p:nvPr/>
        </p:nvSpPr>
        <p:spPr>
          <a:xfrm>
            <a:off x="584200" y="1968500"/>
            <a:ext cx="38100" cy="39370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36600" y="1993900"/>
            <a:ext cx="3132667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Public website</a:t>
            </a:r>
            <a:endParaRPr lang="en-US" sz="1700"/>
          </a:p>
        </p:txBody>
      </p:sp>
      <p:sp>
        <p:nvSpPr>
          <p:cNvPr id="10" name="Text 10"/>
          <p:cNvSpPr txBox="1"/>
          <p:nvPr/>
        </p:nvSpPr>
        <p:spPr>
          <a:xfrm>
            <a:off x="736600" y="2425700"/>
            <a:ext cx="3132667" cy="3505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Browse clubs, search and filter, apply, view events and calendar, and explore community posts.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4326467" y="1841500"/>
            <a:ext cx="3539067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2" name="Shape 12"/>
          <p:cNvSpPr/>
          <p:nvPr/>
        </p:nvSpPr>
        <p:spPr>
          <a:xfrm>
            <a:off x="4351867" y="1968500"/>
            <a:ext cx="38100" cy="3937000"/>
          </a:xfrm>
          <a:prstGeom prst="rect">
            <a:avLst/>
          </a:prstGeom>
          <a:solidFill>
            <a:srgbClr val="2872D6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4504267" y="1993900"/>
            <a:ext cx="3132667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Role workspaces</a:t>
            </a:r>
            <a:endParaRPr lang="en-US" sz="1700"/>
          </a:p>
        </p:txBody>
      </p:sp>
      <p:sp>
        <p:nvSpPr>
          <p:cNvPr id="14" name="Text 14"/>
          <p:cNvSpPr txBox="1"/>
          <p:nvPr/>
        </p:nvSpPr>
        <p:spPr>
          <a:xfrm>
            <a:off x="4504267" y="2425700"/>
            <a:ext cx="3132667" cy="3505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Dedicated dashboards for club leaders, committee heads, PR, English, Security, SSO, Dean, and administrators.</a:t>
            </a:r>
            <a:endParaRPr lang="en-US" sz="1400"/>
          </a:p>
        </p:txBody>
      </p:sp>
      <p:sp>
        <p:nvSpPr>
          <p:cNvPr id="15" name="Shape 15"/>
          <p:cNvSpPr/>
          <p:nvPr/>
        </p:nvSpPr>
        <p:spPr>
          <a:xfrm>
            <a:off x="8094133" y="1841500"/>
            <a:ext cx="3539067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6" name="Shape 16"/>
          <p:cNvSpPr/>
          <p:nvPr/>
        </p:nvSpPr>
        <p:spPr>
          <a:xfrm>
            <a:off x="8119533" y="1968500"/>
            <a:ext cx="38100" cy="3937000"/>
          </a:xfrm>
          <a:prstGeom prst="rect">
            <a:avLst/>
          </a:prstGeom>
          <a:solidFill>
            <a:srgbClr val="18956D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8271933" y="1993900"/>
            <a:ext cx="3132667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Shared services</a:t>
            </a:r>
            <a:endParaRPr lang="en-US" sz="1700"/>
          </a:p>
        </p:txBody>
      </p:sp>
      <p:sp>
        <p:nvSpPr>
          <p:cNvPr id="18" name="Text 18"/>
          <p:cNvSpPr txBox="1"/>
          <p:nvPr/>
        </p:nvSpPr>
        <p:spPr>
          <a:xfrm>
            <a:off x="8271933" y="2425700"/>
            <a:ext cx="3132667" cy="3505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Accounts, saved student details, workflow records, QR attendance, analytics, and clear system feedback.</a:t>
            </a:r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58800" y="215900"/>
            <a:ext cx="11074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000" b="1" dirty="0">
                <a:solidFill>
                  <a:srgbClr val="C9222A"/>
                </a:solidFill>
                <a:latin typeface="Arial"/>
                <a:ea typeface="Arial"/>
                <a:cs typeface="Arial"/>
              </a:rPr>
              <a:t xml:space="preserve">MIU STUDENT CLUBS PORTAL  ·  PROJECT OVERVIEW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58800" y="546100"/>
            <a:ext cx="110744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2700" b="1" dirty="0">
                <a:solidFill>
                  <a:srgbClr val="101A2A"/>
                </a:solidFill>
                <a:latin typeface="Arial"/>
                <a:ea typeface="Arial"/>
                <a:cs typeface="Arial"/>
              </a:rPr>
              <a:t xml:space="preserve">Student journey: discover to join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58800" y="1104900"/>
            <a:ext cx="11074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300" b="0" dirty="0">
                <a:solidFill>
                  <a:srgbClr val="65738A"/>
                </a:solidFill>
                <a:latin typeface="Arial"/>
                <a:ea typeface="Arial"/>
                <a:cs typeface="Arial"/>
              </a:rPr>
              <a:t xml:space="preserve">A short path helps students find a club and follow their application.</a:t>
            </a:r>
            <a:endParaRPr lang="en-US" sz="1300"/>
          </a:p>
        </p:txBody>
      </p:sp>
      <p:sp>
        <p:nvSpPr>
          <p:cNvPr id="6" name="Connector 6"/>
          <p:cNvSpPr/>
          <p:nvPr/>
        </p:nvSpPr>
        <p:spPr>
          <a:xfrm>
            <a:off x="558800" y="6413500"/>
            <a:ext cx="11074400" cy="12700"/>
          </a:xfrm>
          <a:prstGeom prst="line">
            <a:avLst/>
          </a:prstGeom>
          <a:ln w="12700">
            <a:solidFill>
              <a:srgbClr val="DEE4EC"/>
            </a:solidFill>
          </a:ln>
        </p:spPr>
      </p:sp>
      <p:sp>
        <p:nvSpPr>
          <p:cNvPr id="7" name="Shape 7"/>
          <p:cNvSpPr/>
          <p:nvPr/>
        </p:nvSpPr>
        <p:spPr>
          <a:xfrm>
            <a:off x="558800" y="1841500"/>
            <a:ext cx="2597150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8" name="Shape 8"/>
          <p:cNvSpPr/>
          <p:nvPr/>
        </p:nvSpPr>
        <p:spPr>
          <a:xfrm>
            <a:off x="584200" y="1968500"/>
            <a:ext cx="38100" cy="39370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36600" y="1993900"/>
            <a:ext cx="219075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1 · Discover</a:t>
            </a:r>
            <a:endParaRPr lang="en-US" sz="1700"/>
          </a:p>
        </p:txBody>
      </p:sp>
      <p:sp>
        <p:nvSpPr>
          <p:cNvPr id="10" name="Text 10"/>
          <p:cNvSpPr txBox="1"/>
          <p:nvPr/>
        </p:nvSpPr>
        <p:spPr>
          <a:xfrm>
            <a:off x="736600" y="2425700"/>
            <a:ext cx="2190750" cy="3505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Search or filter clubs by name, category, and availability.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3384550" y="1841500"/>
            <a:ext cx="2597150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2" name="Shape 12"/>
          <p:cNvSpPr/>
          <p:nvPr/>
        </p:nvSpPr>
        <p:spPr>
          <a:xfrm>
            <a:off x="3409950" y="1968500"/>
            <a:ext cx="38100" cy="3937000"/>
          </a:xfrm>
          <a:prstGeom prst="rect">
            <a:avLst/>
          </a:prstGeom>
          <a:solidFill>
            <a:srgbClr val="2872D6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3562350" y="1993900"/>
            <a:ext cx="219075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2 · Compare</a:t>
            </a:r>
            <a:endParaRPr lang="en-US" sz="1700"/>
          </a:p>
        </p:txBody>
      </p:sp>
      <p:sp>
        <p:nvSpPr>
          <p:cNvPr id="14" name="Text 14"/>
          <p:cNvSpPr txBox="1"/>
          <p:nvPr/>
        </p:nvSpPr>
        <p:spPr>
          <a:xfrm>
            <a:off x="3562350" y="2425700"/>
            <a:ext cx="2190750" cy="3505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Review club information, membership capacity, and application status.</a:t>
            </a:r>
            <a:endParaRPr lang="en-US" sz="1400"/>
          </a:p>
        </p:txBody>
      </p:sp>
      <p:sp>
        <p:nvSpPr>
          <p:cNvPr id="15" name="Shape 15"/>
          <p:cNvSpPr/>
          <p:nvPr/>
        </p:nvSpPr>
        <p:spPr>
          <a:xfrm>
            <a:off x="6210300" y="1841500"/>
            <a:ext cx="2597150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6" name="Shape 16"/>
          <p:cNvSpPr/>
          <p:nvPr/>
        </p:nvSpPr>
        <p:spPr>
          <a:xfrm>
            <a:off x="6235700" y="1968500"/>
            <a:ext cx="38100" cy="3937000"/>
          </a:xfrm>
          <a:prstGeom prst="rect">
            <a:avLst/>
          </a:prstGeom>
          <a:solidFill>
            <a:srgbClr val="18956D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6388100" y="1993900"/>
            <a:ext cx="219075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3 · Apply</a:t>
            </a:r>
            <a:endParaRPr lang="en-US" sz="1700"/>
          </a:p>
        </p:txBody>
      </p:sp>
      <p:sp>
        <p:nvSpPr>
          <p:cNvPr id="18" name="Text 18"/>
          <p:cNvSpPr txBox="1"/>
          <p:nvPr/>
        </p:nvSpPr>
        <p:spPr>
          <a:xfrm>
            <a:off x="6388100" y="2425700"/>
            <a:ext cx="2190750" cy="3505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Complete the club-specific form using saved profile details where available.</a:t>
            </a:r>
            <a:endParaRPr lang="en-US" sz="1400"/>
          </a:p>
        </p:txBody>
      </p:sp>
      <p:sp>
        <p:nvSpPr>
          <p:cNvPr id="19" name="Shape 19"/>
          <p:cNvSpPr/>
          <p:nvPr/>
        </p:nvSpPr>
        <p:spPr>
          <a:xfrm>
            <a:off x="9036050" y="1841500"/>
            <a:ext cx="2597150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20" name="Shape 20"/>
          <p:cNvSpPr/>
          <p:nvPr/>
        </p:nvSpPr>
        <p:spPr>
          <a:xfrm>
            <a:off x="9061450" y="1968500"/>
            <a:ext cx="38100" cy="3937000"/>
          </a:xfrm>
          <a:prstGeom prst="rect">
            <a:avLst/>
          </a:prstGeom>
          <a:solidFill>
            <a:srgbClr val="C58B17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9213850" y="1993900"/>
            <a:ext cx="219075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4 · Follow up</a:t>
            </a:r>
            <a:endParaRPr lang="en-US" sz="1700"/>
          </a:p>
        </p:txBody>
      </p:sp>
      <p:sp>
        <p:nvSpPr>
          <p:cNvPr id="22" name="Text 22"/>
          <p:cNvSpPr txBox="1"/>
          <p:nvPr/>
        </p:nvSpPr>
        <p:spPr>
          <a:xfrm>
            <a:off x="9213850" y="2425700"/>
            <a:ext cx="2190750" cy="3505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Return to the account to check the application and next steps.</a:t>
            </a:r>
            <a:endParaRPr 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58800" y="215900"/>
            <a:ext cx="11074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000" b="1" dirty="0">
                <a:solidFill>
                  <a:srgbClr val="C9222A"/>
                </a:solidFill>
                <a:latin typeface="Arial"/>
                <a:ea typeface="Arial"/>
                <a:cs typeface="Arial"/>
              </a:rPr>
              <a:t xml:space="preserve">MIU STUDENT CLUBS PORTAL  ·  PROJECT OVERVIEW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58800" y="546100"/>
            <a:ext cx="110744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2700" b="1" dirty="0">
                <a:solidFill>
                  <a:srgbClr val="101A2A"/>
                </a:solidFill>
                <a:latin typeface="Arial"/>
                <a:ea typeface="Arial"/>
                <a:cs typeface="Arial"/>
              </a:rPr>
              <a:t xml:space="preserve">A public home for campus life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58800" y="1104900"/>
            <a:ext cx="11074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300" b="0" dirty="0">
                <a:solidFill>
                  <a:srgbClr val="65738A"/>
                </a:solidFill>
                <a:latin typeface="Arial"/>
                <a:ea typeface="Arial"/>
                <a:cs typeface="Arial"/>
              </a:rPr>
              <a:t xml:space="preserve">Reviewed public content helps students find what is happening across campus.</a:t>
            </a:r>
            <a:endParaRPr lang="en-US" sz="1300"/>
          </a:p>
        </p:txBody>
      </p:sp>
      <p:sp>
        <p:nvSpPr>
          <p:cNvPr id="6" name="Connector 6"/>
          <p:cNvSpPr/>
          <p:nvPr/>
        </p:nvSpPr>
        <p:spPr>
          <a:xfrm>
            <a:off x="558800" y="6413500"/>
            <a:ext cx="11074400" cy="12700"/>
          </a:xfrm>
          <a:prstGeom prst="line">
            <a:avLst/>
          </a:prstGeom>
          <a:ln w="12700">
            <a:solidFill>
              <a:srgbClr val="DEE4EC"/>
            </a:solidFill>
          </a:ln>
        </p:spPr>
      </p:sp>
      <p:sp>
        <p:nvSpPr>
          <p:cNvPr id="7" name="Shape 7"/>
          <p:cNvSpPr/>
          <p:nvPr/>
        </p:nvSpPr>
        <p:spPr>
          <a:xfrm>
            <a:off x="558800" y="18415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8" name="Shape 8"/>
          <p:cNvSpPr/>
          <p:nvPr/>
        </p:nvSpPr>
        <p:spPr>
          <a:xfrm>
            <a:off x="584200" y="1968500"/>
            <a:ext cx="38100" cy="17272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36600" y="19939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Events</a:t>
            </a:r>
            <a:endParaRPr lang="en-US" sz="1700"/>
          </a:p>
        </p:txBody>
      </p:sp>
      <p:sp>
        <p:nvSpPr>
          <p:cNvPr id="10" name="Text 10"/>
          <p:cNvSpPr txBox="1"/>
          <p:nvPr/>
        </p:nvSpPr>
        <p:spPr>
          <a:xfrm>
            <a:off x="736600" y="24257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Event pages can include images, date, time, location, and optional registration.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6210300" y="18415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2" name="Shape 12"/>
          <p:cNvSpPr/>
          <p:nvPr/>
        </p:nvSpPr>
        <p:spPr>
          <a:xfrm>
            <a:off x="6235700" y="1968500"/>
            <a:ext cx="38100" cy="1727200"/>
          </a:xfrm>
          <a:prstGeom prst="rect">
            <a:avLst/>
          </a:prstGeom>
          <a:solidFill>
            <a:srgbClr val="2872D6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6388100" y="19939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Calendar</a:t>
            </a:r>
            <a:endParaRPr lang="en-US" sz="1700"/>
          </a:p>
        </p:txBody>
      </p:sp>
      <p:sp>
        <p:nvSpPr>
          <p:cNvPr id="14" name="Text 14"/>
          <p:cNvSpPr txBox="1"/>
          <p:nvPr/>
        </p:nvSpPr>
        <p:spPr>
          <a:xfrm>
            <a:off x="6388100" y="24257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Explore events by date and open event details from the calendar.</a:t>
            </a:r>
            <a:endParaRPr lang="en-US" sz="1400"/>
          </a:p>
        </p:txBody>
      </p:sp>
      <p:sp>
        <p:nvSpPr>
          <p:cNvPr id="15" name="Shape 15"/>
          <p:cNvSpPr/>
          <p:nvPr/>
        </p:nvSpPr>
        <p:spPr>
          <a:xfrm>
            <a:off x="558800" y="40513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6" name="Shape 16"/>
          <p:cNvSpPr/>
          <p:nvPr/>
        </p:nvSpPr>
        <p:spPr>
          <a:xfrm>
            <a:off x="584200" y="4178300"/>
            <a:ext cx="38100" cy="1727200"/>
          </a:xfrm>
          <a:prstGeom prst="rect">
            <a:avLst/>
          </a:prstGeom>
          <a:solidFill>
            <a:srgbClr val="18956D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736600" y="42037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Community feed</a:t>
            </a:r>
            <a:endParaRPr lang="en-US" sz="1700"/>
          </a:p>
        </p:txBody>
      </p:sp>
      <p:sp>
        <p:nvSpPr>
          <p:cNvPr id="18" name="Text 18"/>
          <p:cNvSpPr txBox="1"/>
          <p:nvPr/>
        </p:nvSpPr>
        <p:spPr>
          <a:xfrm>
            <a:off x="736600" y="46355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See approved university and club announcements in one place.</a:t>
            </a:r>
            <a:endParaRPr lang="en-US" sz="1400"/>
          </a:p>
        </p:txBody>
      </p:sp>
      <p:sp>
        <p:nvSpPr>
          <p:cNvPr id="19" name="Shape 19"/>
          <p:cNvSpPr/>
          <p:nvPr/>
        </p:nvSpPr>
        <p:spPr>
          <a:xfrm>
            <a:off x="6210300" y="40513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20" name="Shape 20"/>
          <p:cNvSpPr/>
          <p:nvPr/>
        </p:nvSpPr>
        <p:spPr>
          <a:xfrm>
            <a:off x="6235700" y="4178300"/>
            <a:ext cx="38100" cy="1727200"/>
          </a:xfrm>
          <a:prstGeom prst="rect">
            <a:avLst/>
          </a:prstGeom>
          <a:solidFill>
            <a:srgbClr val="C58B17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6388100" y="42037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Sponsors &amp; booths</a:t>
            </a:r>
            <a:endParaRPr lang="en-US" sz="1700"/>
          </a:p>
        </p:txBody>
      </p:sp>
      <p:sp>
        <p:nvSpPr>
          <p:cNvPr id="22" name="Text 22"/>
          <p:cNvSpPr txBox="1"/>
          <p:nvPr/>
        </p:nvSpPr>
        <p:spPr>
          <a:xfrm>
            <a:off x="6388100" y="46355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Browse published sponsor and booth information after review.</a:t>
            </a:r>
            <a:endParaRPr 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58800" y="215900"/>
            <a:ext cx="11074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000" b="1" dirty="0">
                <a:solidFill>
                  <a:srgbClr val="C9222A"/>
                </a:solidFill>
                <a:latin typeface="Arial"/>
                <a:ea typeface="Arial"/>
                <a:cs typeface="Arial"/>
              </a:rPr>
              <a:t xml:space="preserve">MIU STUDENT CLUBS PORTAL  ·  PROJECT OVERVIEW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58800" y="546100"/>
            <a:ext cx="110744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2700" b="1" dirty="0">
                <a:solidFill>
                  <a:srgbClr val="101A2A"/>
                </a:solidFill>
                <a:latin typeface="Arial"/>
                <a:ea typeface="Arial"/>
                <a:cs typeface="Arial"/>
              </a:rPr>
              <a:t xml:space="preserve">Student accounts and forms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58800" y="1104900"/>
            <a:ext cx="11074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300" b="0" dirty="0">
                <a:solidFill>
                  <a:srgbClr val="65738A"/>
                </a:solidFill>
                <a:latin typeface="Arial"/>
                <a:ea typeface="Arial"/>
                <a:cs typeface="Arial"/>
              </a:rPr>
              <a:t xml:space="preserve">Accounts make repeat participation easier and keep form submissions connected.</a:t>
            </a:r>
            <a:endParaRPr lang="en-US" sz="1300"/>
          </a:p>
        </p:txBody>
      </p:sp>
      <p:sp>
        <p:nvSpPr>
          <p:cNvPr id="6" name="Connector 6"/>
          <p:cNvSpPr/>
          <p:nvPr/>
        </p:nvSpPr>
        <p:spPr>
          <a:xfrm>
            <a:off x="558800" y="6413500"/>
            <a:ext cx="11074400" cy="12700"/>
          </a:xfrm>
          <a:prstGeom prst="line">
            <a:avLst/>
          </a:prstGeom>
          <a:ln w="12700">
            <a:solidFill>
              <a:srgbClr val="DEE4EC"/>
            </a:solidFill>
          </a:ln>
        </p:spPr>
      </p:sp>
      <p:sp>
        <p:nvSpPr>
          <p:cNvPr id="7" name="Shape 7"/>
          <p:cNvSpPr/>
          <p:nvPr/>
        </p:nvSpPr>
        <p:spPr>
          <a:xfrm>
            <a:off x="558800" y="18415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8" name="Shape 8"/>
          <p:cNvSpPr/>
          <p:nvPr/>
        </p:nvSpPr>
        <p:spPr>
          <a:xfrm>
            <a:off x="584200" y="1968500"/>
            <a:ext cx="38100" cy="17272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36600" y="19939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Persistent sign-in</a:t>
            </a:r>
            <a:endParaRPr lang="en-US" sz="1700"/>
          </a:p>
        </p:txBody>
      </p:sp>
      <p:sp>
        <p:nvSpPr>
          <p:cNvPr id="10" name="Text 10"/>
          <p:cNvSpPr txBox="1"/>
          <p:nvPr/>
        </p:nvSpPr>
        <p:spPr>
          <a:xfrm>
            <a:off x="736600" y="24257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Students stay signed in until they choose to sign out, subject to session policy.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6210300" y="18415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2" name="Shape 12"/>
          <p:cNvSpPr/>
          <p:nvPr/>
        </p:nvSpPr>
        <p:spPr>
          <a:xfrm>
            <a:off x="6235700" y="1968500"/>
            <a:ext cx="38100" cy="1727200"/>
          </a:xfrm>
          <a:prstGeom prst="rect">
            <a:avLst/>
          </a:prstGeom>
          <a:solidFill>
            <a:srgbClr val="2872D6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6388100" y="19939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Saved profile</a:t>
            </a:r>
            <a:endParaRPr lang="en-US" sz="1700"/>
          </a:p>
        </p:txBody>
      </p:sp>
      <p:sp>
        <p:nvSpPr>
          <p:cNvPr id="14" name="Text 14"/>
          <p:cNvSpPr txBox="1"/>
          <p:nvPr/>
        </p:nvSpPr>
        <p:spPr>
          <a:xfrm>
            <a:off x="6388100" y="24257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Previously supplied student details can prefill later forms.</a:t>
            </a:r>
            <a:endParaRPr lang="en-US" sz="1400"/>
          </a:p>
        </p:txBody>
      </p:sp>
      <p:sp>
        <p:nvSpPr>
          <p:cNvPr id="15" name="Shape 15"/>
          <p:cNvSpPr/>
          <p:nvPr/>
        </p:nvSpPr>
        <p:spPr>
          <a:xfrm>
            <a:off x="558800" y="40513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6" name="Shape 16"/>
          <p:cNvSpPr/>
          <p:nvPr/>
        </p:nvSpPr>
        <p:spPr>
          <a:xfrm>
            <a:off x="584200" y="4178300"/>
            <a:ext cx="38100" cy="1727200"/>
          </a:xfrm>
          <a:prstGeom prst="rect">
            <a:avLst/>
          </a:prstGeom>
          <a:solidFill>
            <a:srgbClr val="18956D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736600" y="42037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Club applications</a:t>
            </a:r>
            <a:endParaRPr lang="en-US" sz="1700"/>
          </a:p>
        </p:txBody>
      </p:sp>
      <p:sp>
        <p:nvSpPr>
          <p:cNvPr id="18" name="Text 18"/>
          <p:cNvSpPr txBox="1"/>
          <p:nvPr/>
        </p:nvSpPr>
        <p:spPr>
          <a:xfrm>
            <a:off x="736600" y="46355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Club-defined questions capture the information needed for each application.</a:t>
            </a:r>
            <a:endParaRPr lang="en-US" sz="1400"/>
          </a:p>
        </p:txBody>
      </p:sp>
      <p:sp>
        <p:nvSpPr>
          <p:cNvPr id="19" name="Shape 19"/>
          <p:cNvSpPr/>
          <p:nvPr/>
        </p:nvSpPr>
        <p:spPr>
          <a:xfrm>
            <a:off x="6210300" y="40513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20" name="Shape 20"/>
          <p:cNvSpPr/>
          <p:nvPr/>
        </p:nvSpPr>
        <p:spPr>
          <a:xfrm>
            <a:off x="6235700" y="4178300"/>
            <a:ext cx="38100" cy="1727200"/>
          </a:xfrm>
          <a:prstGeom prst="rect">
            <a:avLst/>
          </a:prstGeom>
          <a:solidFill>
            <a:srgbClr val="C58B17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6388100" y="42037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Event registration</a:t>
            </a:r>
            <a:endParaRPr lang="en-US" sz="1700"/>
          </a:p>
        </p:txBody>
      </p:sp>
      <p:sp>
        <p:nvSpPr>
          <p:cNvPr id="22" name="Text 22"/>
          <p:cNvSpPr txBox="1"/>
          <p:nvPr/>
        </p:nvSpPr>
        <p:spPr>
          <a:xfrm>
            <a:off x="6388100" y="46355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Registration appears when enabled by the event publisher; duplicate entries are handled.</a:t>
            </a:r>
            <a:endParaRPr 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58800" y="215900"/>
            <a:ext cx="11074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000" b="1" dirty="0">
                <a:solidFill>
                  <a:srgbClr val="C9222A"/>
                </a:solidFill>
                <a:latin typeface="Arial"/>
                <a:ea typeface="Arial"/>
                <a:cs typeface="Arial"/>
              </a:rPr>
              <a:t xml:space="preserve">MIU STUDENT CLUBS PORTAL  ·  PROJECT OVERVIEW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58800" y="546100"/>
            <a:ext cx="110744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2700" b="1" dirty="0">
                <a:solidFill>
                  <a:srgbClr val="101A2A"/>
                </a:solidFill>
                <a:latin typeface="Arial"/>
                <a:ea typeface="Arial"/>
                <a:cs typeface="Arial"/>
              </a:rPr>
              <a:t xml:space="preserve">Club president and committee workspace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58800" y="1104900"/>
            <a:ext cx="11074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300" b="0" dirty="0">
                <a:solidFill>
                  <a:srgbClr val="65738A"/>
                </a:solidFill>
                <a:latin typeface="Arial"/>
                <a:ea typeface="Arial"/>
                <a:cs typeface="Arial"/>
              </a:rPr>
              <a:t xml:space="preserve">A role-based workspace supports day-to-day club management.</a:t>
            </a:r>
            <a:endParaRPr lang="en-US" sz="1300"/>
          </a:p>
        </p:txBody>
      </p:sp>
      <p:sp>
        <p:nvSpPr>
          <p:cNvPr id="6" name="Connector 6"/>
          <p:cNvSpPr/>
          <p:nvPr/>
        </p:nvSpPr>
        <p:spPr>
          <a:xfrm>
            <a:off x="558800" y="6413500"/>
            <a:ext cx="11074400" cy="12700"/>
          </a:xfrm>
          <a:prstGeom prst="line">
            <a:avLst/>
          </a:prstGeom>
          <a:ln w="12700">
            <a:solidFill>
              <a:srgbClr val="DEE4EC"/>
            </a:solidFill>
          </a:ln>
        </p:spPr>
      </p:sp>
      <p:sp>
        <p:nvSpPr>
          <p:cNvPr id="7" name="Shape 7"/>
          <p:cNvSpPr/>
          <p:nvPr/>
        </p:nvSpPr>
        <p:spPr>
          <a:xfrm>
            <a:off x="558800" y="1841500"/>
            <a:ext cx="3539067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8" name="Shape 8"/>
          <p:cNvSpPr/>
          <p:nvPr/>
        </p:nvSpPr>
        <p:spPr>
          <a:xfrm>
            <a:off x="584200" y="1968500"/>
            <a:ext cx="38100" cy="39370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36600" y="1993900"/>
            <a:ext cx="3132667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Club operations</a:t>
            </a:r>
            <a:endParaRPr lang="en-US" sz="1700"/>
          </a:p>
        </p:txBody>
      </p:sp>
      <p:sp>
        <p:nvSpPr>
          <p:cNvPr id="10" name="Text 10"/>
          <p:cNvSpPr txBox="1"/>
          <p:nvPr/>
        </p:nvSpPr>
        <p:spPr>
          <a:xfrm>
            <a:off x="736600" y="2425700"/>
            <a:ext cx="3132667" cy="3505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Manage club details, membership, capacity, and application forms.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4326467" y="1841500"/>
            <a:ext cx="3539067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2" name="Shape 12"/>
          <p:cNvSpPr/>
          <p:nvPr/>
        </p:nvSpPr>
        <p:spPr>
          <a:xfrm>
            <a:off x="4351867" y="1968500"/>
            <a:ext cx="38100" cy="3937000"/>
          </a:xfrm>
          <a:prstGeom prst="rect">
            <a:avLst/>
          </a:prstGeom>
          <a:solidFill>
            <a:srgbClr val="2872D6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4504267" y="1993900"/>
            <a:ext cx="3132667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Content studio</a:t>
            </a:r>
            <a:endParaRPr lang="en-US" sz="1700"/>
          </a:p>
        </p:txBody>
      </p:sp>
      <p:sp>
        <p:nvSpPr>
          <p:cNvPr id="14" name="Text 14"/>
          <p:cNvSpPr txBox="1"/>
          <p:nvPr/>
        </p:nvSpPr>
        <p:spPr>
          <a:xfrm>
            <a:off x="4504267" y="2425700"/>
            <a:ext cx="3132667" cy="3505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Prepare events, feed posts, sponsors, and booths for the relevant review route.</a:t>
            </a:r>
            <a:endParaRPr lang="en-US" sz="1400"/>
          </a:p>
        </p:txBody>
      </p:sp>
      <p:sp>
        <p:nvSpPr>
          <p:cNvPr id="15" name="Shape 15"/>
          <p:cNvSpPr/>
          <p:nvPr/>
        </p:nvSpPr>
        <p:spPr>
          <a:xfrm>
            <a:off x="8094133" y="1841500"/>
            <a:ext cx="3539067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6" name="Shape 16"/>
          <p:cNvSpPr/>
          <p:nvPr/>
        </p:nvSpPr>
        <p:spPr>
          <a:xfrm>
            <a:off x="8119533" y="1968500"/>
            <a:ext cx="38100" cy="3937000"/>
          </a:xfrm>
          <a:prstGeom prst="rect">
            <a:avLst/>
          </a:prstGeom>
          <a:solidFill>
            <a:srgbClr val="18956D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8271933" y="1993900"/>
            <a:ext cx="3132667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Internal requests</a:t>
            </a:r>
            <a:endParaRPr lang="en-US" sz="1700"/>
          </a:p>
        </p:txBody>
      </p:sp>
      <p:sp>
        <p:nvSpPr>
          <p:cNvPr id="18" name="Text 18"/>
          <p:cNvSpPr txBox="1"/>
          <p:nvPr/>
        </p:nvSpPr>
        <p:spPr>
          <a:xfrm>
            <a:off x="8271933" y="2425700"/>
            <a:ext cx="3132667" cy="3505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Submit attendance reviews and campus entry permits through their dedicated workflows.</a:t>
            </a:r>
            <a:endParaRPr 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58800" y="215900"/>
            <a:ext cx="11074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000" b="1" dirty="0">
                <a:solidFill>
                  <a:srgbClr val="C9222A"/>
                </a:solidFill>
                <a:latin typeface="Arial"/>
                <a:ea typeface="Arial"/>
                <a:cs typeface="Arial"/>
              </a:rPr>
              <a:t xml:space="preserve">MIU STUDENT CLUBS PORTAL  ·  PROJECT OVERVIEW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58800" y="546100"/>
            <a:ext cx="110744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2700" b="1" dirty="0">
                <a:solidFill>
                  <a:srgbClr val="101A2A"/>
                </a:solidFill>
                <a:latin typeface="Arial"/>
                <a:ea typeface="Arial"/>
                <a:cs typeface="Arial"/>
              </a:rPr>
              <a:t xml:space="preserve">Approval routes and publishing boundaries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58800" y="1104900"/>
            <a:ext cx="11074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300" b="0" dirty="0">
                <a:solidFill>
                  <a:srgbClr val="65738A"/>
                </a:solidFill>
                <a:latin typeface="Arial"/>
                <a:ea typeface="Arial"/>
                <a:cs typeface="Arial"/>
              </a:rPr>
              <a:t xml:space="preserve">Each request follows its own route; only approved public content is published.</a:t>
            </a:r>
            <a:endParaRPr lang="en-US" sz="1300"/>
          </a:p>
        </p:txBody>
      </p:sp>
      <p:sp>
        <p:nvSpPr>
          <p:cNvPr id="6" name="Connector 6"/>
          <p:cNvSpPr/>
          <p:nvPr/>
        </p:nvSpPr>
        <p:spPr>
          <a:xfrm>
            <a:off x="558800" y="6413500"/>
            <a:ext cx="11074400" cy="12700"/>
          </a:xfrm>
          <a:prstGeom prst="line">
            <a:avLst/>
          </a:prstGeom>
          <a:ln w="12700">
            <a:solidFill>
              <a:srgbClr val="DEE4EC"/>
            </a:solidFill>
          </a:ln>
        </p:spPr>
      </p:sp>
      <p:sp>
        <p:nvSpPr>
          <p:cNvPr id="7" name="Shape 7"/>
          <p:cNvSpPr/>
          <p:nvPr/>
        </p:nvSpPr>
        <p:spPr>
          <a:xfrm>
            <a:off x="558800" y="1841500"/>
            <a:ext cx="3539067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8" name="Shape 8"/>
          <p:cNvSpPr/>
          <p:nvPr/>
        </p:nvSpPr>
        <p:spPr>
          <a:xfrm>
            <a:off x="584200" y="1968500"/>
            <a:ext cx="38100" cy="39370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36600" y="1993900"/>
            <a:ext cx="3132667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Public content</a:t>
            </a:r>
            <a:endParaRPr lang="en-US" sz="1700"/>
          </a:p>
        </p:txBody>
      </p:sp>
      <p:sp>
        <p:nvSpPr>
          <p:cNvPr id="10" name="Text 10"/>
          <p:cNvSpPr txBox="1"/>
          <p:nvPr/>
        </p:nvSpPr>
        <p:spPr>
          <a:xfrm>
            <a:off x="736600" y="2425700"/>
            <a:ext cx="3132667" cy="3505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Club → PR → English → Dean → published to students. The standard route may vary by configured review rules.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4326467" y="1841500"/>
            <a:ext cx="3539067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2" name="Shape 12"/>
          <p:cNvSpPr/>
          <p:nvPr/>
        </p:nvSpPr>
        <p:spPr>
          <a:xfrm>
            <a:off x="4351867" y="1968500"/>
            <a:ext cx="38100" cy="3937000"/>
          </a:xfrm>
          <a:prstGeom prst="rect">
            <a:avLst/>
          </a:prstGeom>
          <a:solidFill>
            <a:srgbClr val="2872D6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4504267" y="1993900"/>
            <a:ext cx="3132667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Attendance</a:t>
            </a:r>
            <a:endParaRPr lang="en-US" sz="1700"/>
          </a:p>
        </p:txBody>
      </p:sp>
      <p:sp>
        <p:nvSpPr>
          <p:cNvPr id="14" name="Text 14"/>
          <p:cNvSpPr txBox="1"/>
          <p:nvPr/>
        </p:nvSpPr>
        <p:spPr>
          <a:xfrm>
            <a:off x="4504267" y="2425700"/>
            <a:ext cx="3132667" cy="3505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Club → PR → SSO → Dean. This is an internal club workflow and is not published.</a:t>
            </a:r>
            <a:endParaRPr lang="en-US" sz="1400"/>
          </a:p>
        </p:txBody>
      </p:sp>
      <p:sp>
        <p:nvSpPr>
          <p:cNvPr id="15" name="Shape 15"/>
          <p:cNvSpPr/>
          <p:nvPr/>
        </p:nvSpPr>
        <p:spPr>
          <a:xfrm>
            <a:off x="8094133" y="1841500"/>
            <a:ext cx="3539067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6" name="Shape 16"/>
          <p:cNvSpPr/>
          <p:nvPr/>
        </p:nvSpPr>
        <p:spPr>
          <a:xfrm>
            <a:off x="8119533" y="1968500"/>
            <a:ext cx="38100" cy="3937000"/>
          </a:xfrm>
          <a:prstGeom prst="rect">
            <a:avLst/>
          </a:prstGeom>
          <a:solidFill>
            <a:srgbClr val="18956D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8271933" y="1993900"/>
            <a:ext cx="3132667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Entry permit</a:t>
            </a:r>
            <a:endParaRPr lang="en-US" sz="1700"/>
          </a:p>
        </p:txBody>
      </p:sp>
      <p:sp>
        <p:nvSpPr>
          <p:cNvPr id="18" name="Text 18"/>
          <p:cNvSpPr txBox="1"/>
          <p:nvPr/>
        </p:nvSpPr>
        <p:spPr>
          <a:xfrm>
            <a:off x="8271933" y="2425700"/>
            <a:ext cx="3132667" cy="3505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Club → PR initial review → Security Office → PR final decision → Dean view-only. Internal only.</a:t>
            </a:r>
            <a:endParaRPr 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58800" y="215900"/>
            <a:ext cx="11074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000" b="1" dirty="0">
                <a:solidFill>
                  <a:srgbClr val="C9222A"/>
                </a:solidFill>
                <a:latin typeface="Arial"/>
                <a:ea typeface="Arial"/>
                <a:cs typeface="Arial"/>
              </a:rPr>
              <a:t xml:space="preserve">MIU STUDENT CLUBS PORTAL  ·  PROJECT OVERVIEW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58800" y="546100"/>
            <a:ext cx="110744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2700" b="1" dirty="0">
                <a:solidFill>
                  <a:srgbClr val="101A2A"/>
                </a:solidFill>
                <a:latin typeface="Arial"/>
                <a:ea typeface="Arial"/>
                <a:cs typeface="Arial"/>
              </a:rPr>
              <a:t xml:space="preserve">Reviewer roles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58800" y="1104900"/>
            <a:ext cx="11074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300" b="0" dirty="0">
                <a:solidFill>
                  <a:srgbClr val="65738A"/>
                </a:solidFill>
                <a:latin typeface="Arial"/>
                <a:ea typeface="Arial"/>
                <a:cs typeface="Arial"/>
              </a:rPr>
              <a:t xml:space="preserve">Reviewers see requests assigned to their department and available actions.</a:t>
            </a:r>
            <a:endParaRPr lang="en-US" sz="1300"/>
          </a:p>
        </p:txBody>
      </p:sp>
      <p:sp>
        <p:nvSpPr>
          <p:cNvPr id="6" name="Connector 6"/>
          <p:cNvSpPr/>
          <p:nvPr/>
        </p:nvSpPr>
        <p:spPr>
          <a:xfrm>
            <a:off x="558800" y="6413500"/>
            <a:ext cx="11074400" cy="12700"/>
          </a:xfrm>
          <a:prstGeom prst="line">
            <a:avLst/>
          </a:prstGeom>
          <a:ln w="12700">
            <a:solidFill>
              <a:srgbClr val="DEE4EC"/>
            </a:solidFill>
          </a:ln>
        </p:spPr>
      </p:sp>
      <p:sp>
        <p:nvSpPr>
          <p:cNvPr id="7" name="Shape 7"/>
          <p:cNvSpPr/>
          <p:nvPr/>
        </p:nvSpPr>
        <p:spPr>
          <a:xfrm>
            <a:off x="558800" y="1841500"/>
            <a:ext cx="3539067" cy="124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8" name="Shape 8"/>
          <p:cNvSpPr/>
          <p:nvPr/>
        </p:nvSpPr>
        <p:spPr>
          <a:xfrm>
            <a:off x="584200" y="1968500"/>
            <a:ext cx="38100" cy="9906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36600" y="1993900"/>
            <a:ext cx="3132667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PR</a:t>
            </a:r>
            <a:endParaRPr lang="en-US" sz="1700"/>
          </a:p>
        </p:txBody>
      </p:sp>
      <p:sp>
        <p:nvSpPr>
          <p:cNvPr id="10" name="Text 10"/>
          <p:cNvSpPr txBox="1"/>
          <p:nvPr/>
        </p:nvSpPr>
        <p:spPr>
          <a:xfrm>
            <a:off x="736600" y="2425700"/>
            <a:ext cx="3132667" cy="558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Initial review for public content and entry permits; final decision after Security review.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4326467" y="1841500"/>
            <a:ext cx="3539067" cy="124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2" name="Shape 12"/>
          <p:cNvSpPr/>
          <p:nvPr/>
        </p:nvSpPr>
        <p:spPr>
          <a:xfrm>
            <a:off x="4351867" y="1968500"/>
            <a:ext cx="38100" cy="990600"/>
          </a:xfrm>
          <a:prstGeom prst="rect">
            <a:avLst/>
          </a:prstGeom>
          <a:solidFill>
            <a:srgbClr val="2872D6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4504267" y="1993900"/>
            <a:ext cx="3132667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English Department</a:t>
            </a:r>
            <a:endParaRPr lang="en-US" sz="1700"/>
          </a:p>
        </p:txBody>
      </p:sp>
      <p:sp>
        <p:nvSpPr>
          <p:cNvPr id="14" name="Text 14"/>
          <p:cNvSpPr txBox="1"/>
          <p:nvPr/>
        </p:nvSpPr>
        <p:spPr>
          <a:xfrm>
            <a:off x="4504267" y="2425700"/>
            <a:ext cx="3132667" cy="558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Language review for content intended for the public website.</a:t>
            </a:r>
            <a:endParaRPr lang="en-US" sz="1400"/>
          </a:p>
        </p:txBody>
      </p:sp>
      <p:sp>
        <p:nvSpPr>
          <p:cNvPr id="15" name="Shape 15"/>
          <p:cNvSpPr/>
          <p:nvPr/>
        </p:nvSpPr>
        <p:spPr>
          <a:xfrm>
            <a:off x="8094133" y="1841500"/>
            <a:ext cx="3539067" cy="124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6" name="Shape 16"/>
          <p:cNvSpPr/>
          <p:nvPr/>
        </p:nvSpPr>
        <p:spPr>
          <a:xfrm>
            <a:off x="8119533" y="1968500"/>
            <a:ext cx="38100" cy="990600"/>
          </a:xfrm>
          <a:prstGeom prst="rect">
            <a:avLst/>
          </a:prstGeom>
          <a:solidFill>
            <a:srgbClr val="18956D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8271933" y="1993900"/>
            <a:ext cx="3132667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Security Office</a:t>
            </a:r>
            <a:endParaRPr lang="en-US" sz="1700"/>
          </a:p>
        </p:txBody>
      </p:sp>
      <p:sp>
        <p:nvSpPr>
          <p:cNvPr id="18" name="Text 18"/>
          <p:cNvSpPr txBox="1"/>
          <p:nvPr/>
        </p:nvSpPr>
        <p:spPr>
          <a:xfrm>
            <a:off x="8271933" y="2425700"/>
            <a:ext cx="3132667" cy="558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Reviews campus entry permit details, then returns the request to PR.</a:t>
            </a:r>
            <a:endParaRPr lang="en-US" sz="1400"/>
          </a:p>
        </p:txBody>
      </p:sp>
      <p:sp>
        <p:nvSpPr>
          <p:cNvPr id="19" name="Shape 19"/>
          <p:cNvSpPr/>
          <p:nvPr/>
        </p:nvSpPr>
        <p:spPr>
          <a:xfrm>
            <a:off x="558800" y="3314700"/>
            <a:ext cx="3539067" cy="124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20" name="Shape 20"/>
          <p:cNvSpPr/>
          <p:nvPr/>
        </p:nvSpPr>
        <p:spPr>
          <a:xfrm>
            <a:off x="584200" y="3441700"/>
            <a:ext cx="38100" cy="990600"/>
          </a:xfrm>
          <a:prstGeom prst="rect">
            <a:avLst/>
          </a:prstGeom>
          <a:solidFill>
            <a:srgbClr val="C58B17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736600" y="3467100"/>
            <a:ext cx="3132667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SSO</a:t>
            </a:r>
            <a:endParaRPr lang="en-US" sz="1700"/>
          </a:p>
        </p:txBody>
      </p:sp>
      <p:sp>
        <p:nvSpPr>
          <p:cNvPr id="22" name="Text 22"/>
          <p:cNvSpPr txBox="1"/>
          <p:nvPr/>
        </p:nvSpPr>
        <p:spPr>
          <a:xfrm>
            <a:off x="736600" y="3898900"/>
            <a:ext cx="3132667" cy="558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Reviews attendance submissions after PR approval.</a:t>
            </a:r>
            <a:endParaRPr lang="en-US" sz="1400"/>
          </a:p>
        </p:txBody>
      </p:sp>
      <p:sp>
        <p:nvSpPr>
          <p:cNvPr id="23" name="Shape 23"/>
          <p:cNvSpPr/>
          <p:nvPr/>
        </p:nvSpPr>
        <p:spPr>
          <a:xfrm>
            <a:off x="4326467" y="3314700"/>
            <a:ext cx="3539067" cy="124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24" name="Shape 24"/>
          <p:cNvSpPr/>
          <p:nvPr/>
        </p:nvSpPr>
        <p:spPr>
          <a:xfrm>
            <a:off x="4351867" y="3441700"/>
            <a:ext cx="38100" cy="990600"/>
          </a:xfrm>
          <a:prstGeom prst="rect">
            <a:avLst/>
          </a:prstGeom>
          <a:solidFill>
            <a:srgbClr val="7255B8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4504267" y="3467100"/>
            <a:ext cx="3132667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Dean</a:t>
            </a:r>
            <a:endParaRPr lang="en-US" sz="1700"/>
          </a:p>
        </p:txBody>
      </p:sp>
      <p:sp>
        <p:nvSpPr>
          <p:cNvPr id="26" name="Text 26"/>
          <p:cNvSpPr txBox="1"/>
          <p:nvPr/>
        </p:nvSpPr>
        <p:spPr>
          <a:xfrm>
            <a:off x="4504267" y="3898900"/>
            <a:ext cx="3132667" cy="558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Final decision on public content and attendance; view-only for entry permits.</a:t>
            </a:r>
            <a:endParaRPr lang="en-US" sz="1400"/>
          </a:p>
        </p:txBody>
      </p:sp>
      <p:sp>
        <p:nvSpPr>
          <p:cNvPr id="27" name="Shape 27"/>
          <p:cNvSpPr/>
          <p:nvPr/>
        </p:nvSpPr>
        <p:spPr>
          <a:xfrm>
            <a:off x="8094133" y="3314700"/>
            <a:ext cx="3539067" cy="124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28" name="Shape 28"/>
          <p:cNvSpPr/>
          <p:nvPr/>
        </p:nvSpPr>
        <p:spPr>
          <a:xfrm>
            <a:off x="8119533" y="3441700"/>
            <a:ext cx="38100" cy="9906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8271933" y="3467100"/>
            <a:ext cx="3132667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Club leaders</a:t>
            </a:r>
            <a:endParaRPr lang="en-US" sz="1700"/>
          </a:p>
        </p:txBody>
      </p:sp>
      <p:sp>
        <p:nvSpPr>
          <p:cNvPr id="30" name="Text 30"/>
          <p:cNvSpPr txBox="1"/>
          <p:nvPr/>
        </p:nvSpPr>
        <p:spPr>
          <a:xfrm>
            <a:off x="8271933" y="3898900"/>
            <a:ext cx="3132667" cy="558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Presidents manage operations; committee heads review assigned applications.</a:t>
            </a:r>
            <a:endParaRPr lang="en-US" sz="1400"/>
          </a:p>
        </p:txBody>
      </p:sp>
      <p:sp>
        <p:nvSpPr>
          <p:cNvPr id="31" name="Shape 31"/>
          <p:cNvSpPr/>
          <p:nvPr/>
        </p:nvSpPr>
        <p:spPr>
          <a:xfrm>
            <a:off x="558800" y="4787900"/>
            <a:ext cx="3539067" cy="124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32" name="Shape 32"/>
          <p:cNvSpPr/>
          <p:nvPr/>
        </p:nvSpPr>
        <p:spPr>
          <a:xfrm>
            <a:off x="584200" y="4914900"/>
            <a:ext cx="38100" cy="990600"/>
          </a:xfrm>
          <a:prstGeom prst="rect">
            <a:avLst/>
          </a:prstGeom>
          <a:solidFill>
            <a:srgbClr val="2872D6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736600" y="4940300"/>
            <a:ext cx="3132667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Global Admin</a:t>
            </a:r>
            <a:endParaRPr lang="en-US" sz="1700"/>
          </a:p>
        </p:txBody>
      </p:sp>
      <p:sp>
        <p:nvSpPr>
          <p:cNvPr id="34" name="Text 34"/>
          <p:cNvSpPr txBox="1"/>
          <p:nvPr/>
        </p:nvSpPr>
        <p:spPr>
          <a:xfrm>
            <a:off x="736600" y="5372100"/>
            <a:ext cx="3132667" cy="558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Manages clubs and reviews portal-level data and analytics.</a:t>
            </a:r>
            <a:endParaRPr lang="en-US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58800" y="215900"/>
            <a:ext cx="11074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000" b="1" dirty="0">
                <a:solidFill>
                  <a:srgbClr val="C9222A"/>
                </a:solidFill>
                <a:latin typeface="Arial"/>
                <a:ea typeface="Arial"/>
                <a:cs typeface="Arial"/>
              </a:rPr>
              <a:t xml:space="preserve">MIU STUDENT CLUBS PORTAL  ·  PROJECT OVERVIEW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58800" y="546100"/>
            <a:ext cx="110744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2700" b="1" dirty="0">
                <a:solidFill>
                  <a:srgbClr val="101A2A"/>
                </a:solidFill>
                <a:latin typeface="Arial"/>
                <a:ea typeface="Arial"/>
                <a:cs typeface="Arial"/>
              </a:rPr>
              <a:t xml:space="preserve">Global administration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58800" y="1104900"/>
            <a:ext cx="11074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300" b="0" dirty="0">
                <a:solidFill>
                  <a:srgbClr val="65738A"/>
                </a:solidFill>
                <a:latin typeface="Arial"/>
                <a:ea typeface="Arial"/>
                <a:cs typeface="Arial"/>
              </a:rPr>
              <a:t xml:space="preserve">Administration provides a central view of clubs, applications, and activity.</a:t>
            </a:r>
            <a:endParaRPr lang="en-US" sz="1300"/>
          </a:p>
        </p:txBody>
      </p:sp>
      <p:sp>
        <p:nvSpPr>
          <p:cNvPr id="6" name="Connector 6"/>
          <p:cNvSpPr/>
          <p:nvPr/>
        </p:nvSpPr>
        <p:spPr>
          <a:xfrm>
            <a:off x="558800" y="6413500"/>
            <a:ext cx="11074400" cy="12700"/>
          </a:xfrm>
          <a:prstGeom prst="line">
            <a:avLst/>
          </a:prstGeom>
          <a:ln w="12700">
            <a:solidFill>
              <a:srgbClr val="DEE4EC"/>
            </a:solidFill>
          </a:ln>
        </p:spPr>
      </p:sp>
      <p:sp>
        <p:nvSpPr>
          <p:cNvPr id="7" name="Shape 7"/>
          <p:cNvSpPr/>
          <p:nvPr/>
        </p:nvSpPr>
        <p:spPr>
          <a:xfrm>
            <a:off x="558800" y="18415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8" name="Shape 8"/>
          <p:cNvSpPr/>
          <p:nvPr/>
        </p:nvSpPr>
        <p:spPr>
          <a:xfrm>
            <a:off x="584200" y="1968500"/>
            <a:ext cx="38100" cy="17272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36600" y="19939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Club directory</a:t>
            </a:r>
            <a:endParaRPr lang="en-US" sz="1700"/>
          </a:p>
        </p:txBody>
      </p:sp>
      <p:sp>
        <p:nvSpPr>
          <p:cNvPr id="10" name="Text 10"/>
          <p:cNvSpPr txBox="1"/>
          <p:nvPr/>
        </p:nvSpPr>
        <p:spPr>
          <a:xfrm>
            <a:off x="736600" y="24257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Manage club records and homepage presence.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6210300" y="18415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2" name="Shape 12"/>
          <p:cNvSpPr/>
          <p:nvPr/>
        </p:nvSpPr>
        <p:spPr>
          <a:xfrm>
            <a:off x="6235700" y="1968500"/>
            <a:ext cx="38100" cy="1727200"/>
          </a:xfrm>
          <a:prstGeom prst="rect">
            <a:avLst/>
          </a:prstGeom>
          <a:solidFill>
            <a:srgbClr val="2872D6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6388100" y="19939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Applications</a:t>
            </a:r>
            <a:endParaRPr lang="en-US" sz="1700"/>
          </a:p>
        </p:txBody>
      </p:sp>
      <p:sp>
        <p:nvSpPr>
          <p:cNvPr id="14" name="Text 14"/>
          <p:cNvSpPr txBox="1"/>
          <p:nvPr/>
        </p:nvSpPr>
        <p:spPr>
          <a:xfrm>
            <a:off x="6388100" y="24257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Review application totals and status across clubs.</a:t>
            </a:r>
            <a:endParaRPr lang="en-US" sz="1400"/>
          </a:p>
        </p:txBody>
      </p:sp>
      <p:sp>
        <p:nvSpPr>
          <p:cNvPr id="15" name="Shape 15"/>
          <p:cNvSpPr/>
          <p:nvPr/>
        </p:nvSpPr>
        <p:spPr>
          <a:xfrm>
            <a:off x="558800" y="40513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6" name="Shape 16"/>
          <p:cNvSpPr/>
          <p:nvPr/>
        </p:nvSpPr>
        <p:spPr>
          <a:xfrm>
            <a:off x="584200" y="4178300"/>
            <a:ext cx="38100" cy="1727200"/>
          </a:xfrm>
          <a:prstGeom prst="rect">
            <a:avLst/>
          </a:prstGeom>
          <a:solidFill>
            <a:srgbClr val="18956D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736600" y="42037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Analytics</a:t>
            </a:r>
            <a:endParaRPr lang="en-US" sz="1700"/>
          </a:p>
        </p:txBody>
      </p:sp>
      <p:sp>
        <p:nvSpPr>
          <p:cNvPr id="18" name="Text 18"/>
          <p:cNvSpPr txBox="1"/>
          <p:nvPr/>
        </p:nvSpPr>
        <p:spPr>
          <a:xfrm>
            <a:off x="736600" y="46355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Explore club performance, event interest, attendance, and student engagement.</a:t>
            </a:r>
            <a:endParaRPr lang="en-US" sz="1400"/>
          </a:p>
        </p:txBody>
      </p:sp>
      <p:sp>
        <p:nvSpPr>
          <p:cNvPr id="19" name="Shape 19"/>
          <p:cNvSpPr/>
          <p:nvPr/>
        </p:nvSpPr>
        <p:spPr>
          <a:xfrm>
            <a:off x="6210300" y="40513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20" name="Shape 20"/>
          <p:cNvSpPr/>
          <p:nvPr/>
        </p:nvSpPr>
        <p:spPr>
          <a:xfrm>
            <a:off x="6235700" y="4178300"/>
            <a:ext cx="38100" cy="1727200"/>
          </a:xfrm>
          <a:prstGeom prst="rect">
            <a:avLst/>
          </a:prstGeom>
          <a:solidFill>
            <a:srgbClr val="C58B17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6388100" y="42037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Website activity</a:t>
            </a:r>
            <a:endParaRPr lang="en-US" sz="1700"/>
          </a:p>
        </p:txBody>
      </p:sp>
      <p:sp>
        <p:nvSpPr>
          <p:cNvPr id="22" name="Text 22"/>
          <p:cNvSpPr txBox="1"/>
          <p:nvPr/>
        </p:nvSpPr>
        <p:spPr>
          <a:xfrm>
            <a:off x="6388100" y="46355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See aggregate visitor and sign-in indicators, with privacy-aware device and network estimates.</a:t>
            </a:r>
            <a:endParaRPr lang="en-US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58800" y="215900"/>
            <a:ext cx="11074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000" b="1" dirty="0">
                <a:solidFill>
                  <a:srgbClr val="C9222A"/>
                </a:solidFill>
                <a:latin typeface="Arial"/>
                <a:ea typeface="Arial"/>
                <a:cs typeface="Arial"/>
              </a:rPr>
              <a:t xml:space="preserve">MIU STUDENT CLUBS PORTAL  ·  PROJECT OVERVIEW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58800" y="546100"/>
            <a:ext cx="110744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2700" b="1" dirty="0">
                <a:solidFill>
                  <a:srgbClr val="101A2A"/>
                </a:solidFill>
                <a:latin typeface="Arial"/>
                <a:ea typeface="Arial"/>
                <a:cs typeface="Arial"/>
              </a:rPr>
              <a:t xml:space="preserve">Event attendance with QR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58800" y="1104900"/>
            <a:ext cx="11074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300" b="0" dirty="0">
                <a:solidFill>
                  <a:srgbClr val="65738A"/>
                </a:solidFill>
                <a:latin typeface="Arial"/>
                <a:ea typeface="Arial"/>
                <a:cs typeface="Arial"/>
              </a:rPr>
              <a:t xml:space="preserve">A digital check-in path links registration and verified attendance.</a:t>
            </a:r>
            <a:endParaRPr lang="en-US" sz="1300"/>
          </a:p>
        </p:txBody>
      </p:sp>
      <p:sp>
        <p:nvSpPr>
          <p:cNvPr id="6" name="Connector 6"/>
          <p:cNvSpPr/>
          <p:nvPr/>
        </p:nvSpPr>
        <p:spPr>
          <a:xfrm>
            <a:off x="558800" y="6413500"/>
            <a:ext cx="11074400" cy="12700"/>
          </a:xfrm>
          <a:prstGeom prst="line">
            <a:avLst/>
          </a:prstGeom>
          <a:ln w="12700">
            <a:solidFill>
              <a:srgbClr val="DEE4EC"/>
            </a:solidFill>
          </a:ln>
        </p:spPr>
      </p:sp>
      <p:sp>
        <p:nvSpPr>
          <p:cNvPr id="7" name="Shape 7"/>
          <p:cNvSpPr/>
          <p:nvPr/>
        </p:nvSpPr>
        <p:spPr>
          <a:xfrm>
            <a:off x="558800" y="18415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8" name="Shape 8"/>
          <p:cNvSpPr/>
          <p:nvPr/>
        </p:nvSpPr>
        <p:spPr>
          <a:xfrm>
            <a:off x="584200" y="1968500"/>
            <a:ext cx="38100" cy="17272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36600" y="19939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Before the event</a:t>
            </a:r>
            <a:endParaRPr lang="en-US" sz="1700"/>
          </a:p>
        </p:txBody>
      </p:sp>
      <p:sp>
        <p:nvSpPr>
          <p:cNvPr id="10" name="Text 10"/>
          <p:cNvSpPr txBox="1"/>
          <p:nvPr/>
        </p:nvSpPr>
        <p:spPr>
          <a:xfrm>
            <a:off x="736600" y="24257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Students register when registration is enabled. Event pages show the relevant details.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6210300" y="18415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2" name="Shape 12"/>
          <p:cNvSpPr/>
          <p:nvPr/>
        </p:nvSpPr>
        <p:spPr>
          <a:xfrm>
            <a:off x="6235700" y="1968500"/>
            <a:ext cx="38100" cy="1727200"/>
          </a:xfrm>
          <a:prstGeom prst="rect">
            <a:avLst/>
          </a:prstGeom>
          <a:solidFill>
            <a:srgbClr val="2872D6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6388100" y="19939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At the event</a:t>
            </a:r>
            <a:endParaRPr lang="en-US" sz="1700"/>
          </a:p>
        </p:txBody>
      </p:sp>
      <p:sp>
        <p:nvSpPr>
          <p:cNvPr id="14" name="Text 14"/>
          <p:cNvSpPr txBox="1"/>
          <p:nvPr/>
        </p:nvSpPr>
        <p:spPr>
          <a:xfrm>
            <a:off x="6388100" y="24257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Authorized club staff record attendance with the event QR workflow.</a:t>
            </a:r>
            <a:endParaRPr lang="en-US" sz="1400"/>
          </a:p>
        </p:txBody>
      </p:sp>
      <p:sp>
        <p:nvSpPr>
          <p:cNvPr id="15" name="Shape 15"/>
          <p:cNvSpPr/>
          <p:nvPr/>
        </p:nvSpPr>
        <p:spPr>
          <a:xfrm>
            <a:off x="558800" y="40513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6" name="Shape 16"/>
          <p:cNvSpPr/>
          <p:nvPr/>
        </p:nvSpPr>
        <p:spPr>
          <a:xfrm>
            <a:off x="584200" y="4178300"/>
            <a:ext cx="38100" cy="1727200"/>
          </a:xfrm>
          <a:prstGeom prst="rect">
            <a:avLst/>
          </a:prstGeom>
          <a:solidFill>
            <a:srgbClr val="18956D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736600" y="42037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After the event</a:t>
            </a:r>
            <a:endParaRPr lang="en-US" sz="1700"/>
          </a:p>
        </p:txBody>
      </p:sp>
      <p:sp>
        <p:nvSpPr>
          <p:cNvPr id="18" name="Text 18"/>
          <p:cNvSpPr txBox="1"/>
          <p:nvPr/>
        </p:nvSpPr>
        <p:spPr>
          <a:xfrm>
            <a:off x="736600" y="46355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Attendance records support club review and university reporting.</a:t>
            </a:r>
            <a:endParaRPr lang="en-US" sz="1400"/>
          </a:p>
        </p:txBody>
      </p:sp>
      <p:sp>
        <p:nvSpPr>
          <p:cNvPr id="19" name="Shape 19"/>
          <p:cNvSpPr/>
          <p:nvPr/>
        </p:nvSpPr>
        <p:spPr>
          <a:xfrm>
            <a:off x="6210300" y="40513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20" name="Shape 20"/>
          <p:cNvSpPr/>
          <p:nvPr/>
        </p:nvSpPr>
        <p:spPr>
          <a:xfrm>
            <a:off x="6235700" y="4178300"/>
            <a:ext cx="38100" cy="1727200"/>
          </a:xfrm>
          <a:prstGeom prst="rect">
            <a:avLst/>
          </a:prstGeom>
          <a:solidFill>
            <a:srgbClr val="C58B17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6388100" y="42037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Review route</a:t>
            </a:r>
            <a:endParaRPr lang="en-US" sz="1700"/>
          </a:p>
        </p:txBody>
      </p:sp>
      <p:sp>
        <p:nvSpPr>
          <p:cNvPr id="22" name="Text 22"/>
          <p:cNvSpPr txBox="1"/>
          <p:nvPr/>
        </p:nvSpPr>
        <p:spPr>
          <a:xfrm>
            <a:off x="6388100" y="46355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Club → PR → SSO → Dean. Attendance requests stay internal.</a:t>
            </a:r>
            <a:endParaRPr lang="en-US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58800" y="215900"/>
            <a:ext cx="11074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000" b="1" dirty="0">
                <a:solidFill>
                  <a:srgbClr val="C9222A"/>
                </a:solidFill>
                <a:latin typeface="Arial"/>
                <a:ea typeface="Arial"/>
                <a:cs typeface="Arial"/>
              </a:rPr>
              <a:t xml:space="preserve">MIU STUDENT CLUBS PORTAL  ·  PROJECT OVERVIEW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58800" y="546100"/>
            <a:ext cx="110744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2700" b="1" dirty="0">
                <a:solidFill>
                  <a:srgbClr val="101A2A"/>
                </a:solidFill>
                <a:latin typeface="Arial"/>
                <a:ea typeface="Arial"/>
                <a:cs typeface="Arial"/>
              </a:rPr>
              <a:t xml:space="preserve">Analytics for better decisions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58800" y="1104900"/>
            <a:ext cx="11074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300" b="0" dirty="0">
                <a:solidFill>
                  <a:srgbClr val="65738A"/>
                </a:solidFill>
                <a:latin typeface="Arial"/>
                <a:ea typeface="Arial"/>
                <a:cs typeface="Arial"/>
              </a:rPr>
              <a:t xml:space="preserve">Use consistent definitions and database-backed data to understand participation.</a:t>
            </a:r>
            <a:endParaRPr lang="en-US" sz="1300"/>
          </a:p>
        </p:txBody>
      </p:sp>
      <p:sp>
        <p:nvSpPr>
          <p:cNvPr id="6" name="Connector 6"/>
          <p:cNvSpPr/>
          <p:nvPr/>
        </p:nvSpPr>
        <p:spPr>
          <a:xfrm>
            <a:off x="558800" y="6413500"/>
            <a:ext cx="11074400" cy="12700"/>
          </a:xfrm>
          <a:prstGeom prst="line">
            <a:avLst/>
          </a:prstGeom>
          <a:ln w="12700">
            <a:solidFill>
              <a:srgbClr val="DEE4EC"/>
            </a:solidFill>
          </a:ln>
        </p:spPr>
      </p:sp>
      <p:sp>
        <p:nvSpPr>
          <p:cNvPr id="7" name="Shape 7"/>
          <p:cNvSpPr/>
          <p:nvPr/>
        </p:nvSpPr>
        <p:spPr>
          <a:xfrm>
            <a:off x="558800" y="18415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8" name="Shape 8"/>
          <p:cNvSpPr/>
          <p:nvPr/>
        </p:nvSpPr>
        <p:spPr>
          <a:xfrm>
            <a:off x="584200" y="1968500"/>
            <a:ext cx="38100" cy="17272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36600" y="19939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Club interest</a:t>
            </a:r>
            <a:endParaRPr lang="en-US" sz="1700"/>
          </a:p>
        </p:txBody>
      </p:sp>
      <p:sp>
        <p:nvSpPr>
          <p:cNvPr id="10" name="Text 10"/>
          <p:cNvSpPr txBox="1"/>
          <p:nvPr/>
        </p:nvSpPr>
        <p:spPr>
          <a:xfrm>
            <a:off x="736600" y="24257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Compare applications, membership, and capacity by club.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6210300" y="18415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2" name="Shape 12"/>
          <p:cNvSpPr/>
          <p:nvPr/>
        </p:nvSpPr>
        <p:spPr>
          <a:xfrm>
            <a:off x="6235700" y="1968500"/>
            <a:ext cx="38100" cy="1727200"/>
          </a:xfrm>
          <a:prstGeom prst="rect">
            <a:avLst/>
          </a:prstGeom>
          <a:solidFill>
            <a:srgbClr val="2872D6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6388100" y="19939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Event engagement</a:t>
            </a:r>
            <a:endParaRPr lang="en-US" sz="1700"/>
          </a:p>
        </p:txBody>
      </p:sp>
      <p:sp>
        <p:nvSpPr>
          <p:cNvPr id="14" name="Text 14"/>
          <p:cNvSpPr txBox="1"/>
          <p:nvPr/>
        </p:nvSpPr>
        <p:spPr>
          <a:xfrm>
            <a:off x="6388100" y="24257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Track event detail views, registrations, and QR check-ins.</a:t>
            </a:r>
            <a:endParaRPr lang="en-US" sz="1400"/>
          </a:p>
        </p:txBody>
      </p:sp>
      <p:sp>
        <p:nvSpPr>
          <p:cNvPr id="15" name="Shape 15"/>
          <p:cNvSpPr/>
          <p:nvPr/>
        </p:nvSpPr>
        <p:spPr>
          <a:xfrm>
            <a:off x="558800" y="40513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6" name="Shape 16"/>
          <p:cNvSpPr/>
          <p:nvPr/>
        </p:nvSpPr>
        <p:spPr>
          <a:xfrm>
            <a:off x="584200" y="4178300"/>
            <a:ext cx="38100" cy="1727200"/>
          </a:xfrm>
          <a:prstGeom prst="rect">
            <a:avLst/>
          </a:prstGeom>
          <a:solidFill>
            <a:srgbClr val="18956D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736600" y="42037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Student interest</a:t>
            </a:r>
            <a:endParaRPr lang="en-US" sz="1700"/>
          </a:p>
        </p:txBody>
      </p:sp>
      <p:sp>
        <p:nvSpPr>
          <p:cNvPr id="18" name="Text 18"/>
          <p:cNvSpPr txBox="1"/>
          <p:nvPr/>
        </p:nvSpPr>
        <p:spPr>
          <a:xfrm>
            <a:off x="736600" y="46355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Understand which clubs and events attract student attention.</a:t>
            </a:r>
            <a:endParaRPr lang="en-US" sz="1400"/>
          </a:p>
        </p:txBody>
      </p:sp>
      <p:sp>
        <p:nvSpPr>
          <p:cNvPr id="19" name="Shape 19"/>
          <p:cNvSpPr/>
          <p:nvPr/>
        </p:nvSpPr>
        <p:spPr>
          <a:xfrm>
            <a:off x="6210300" y="40513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20" name="Shape 20"/>
          <p:cNvSpPr/>
          <p:nvPr/>
        </p:nvSpPr>
        <p:spPr>
          <a:xfrm>
            <a:off x="6235700" y="4178300"/>
            <a:ext cx="38100" cy="1727200"/>
          </a:xfrm>
          <a:prstGeom prst="rect">
            <a:avLst/>
          </a:prstGeom>
          <a:solidFill>
            <a:srgbClr val="C58B17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6388100" y="42037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Operational performance</a:t>
            </a:r>
            <a:endParaRPr lang="en-US" sz="1700"/>
          </a:p>
        </p:txBody>
      </p:sp>
      <p:sp>
        <p:nvSpPr>
          <p:cNvPr id="22" name="Text 22"/>
          <p:cNvSpPr txBox="1"/>
          <p:nvPr/>
        </p:nvSpPr>
        <p:spPr>
          <a:xfrm>
            <a:off x="6388100" y="46355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Review approval queues, turnaround time, and request outcomes.</a:t>
            </a:r>
            <a:endParaRPr lang="en-US"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58800" y="215900"/>
            <a:ext cx="11074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000" b="1" dirty="0">
                <a:solidFill>
                  <a:srgbClr val="C9222A"/>
                </a:solidFill>
                <a:latin typeface="Arial"/>
                <a:ea typeface="Arial"/>
                <a:cs typeface="Arial"/>
              </a:rPr>
              <a:t xml:space="preserve">MIU STUDENT CLUBS PORTAL  ·  PROJECT OVERVIEW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58800" y="546100"/>
            <a:ext cx="110744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2700" b="1" dirty="0">
                <a:solidFill>
                  <a:srgbClr val="101A2A"/>
                </a:solidFill>
                <a:latin typeface="Arial"/>
                <a:ea typeface="Arial"/>
                <a:cs typeface="Arial"/>
              </a:rPr>
              <a:t xml:space="preserve">Trust, privacy, and reliability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58800" y="1104900"/>
            <a:ext cx="11074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300" b="0" dirty="0">
                <a:solidFill>
                  <a:srgbClr val="65738A"/>
                </a:solidFill>
                <a:latin typeface="Arial"/>
                <a:ea typeface="Arial"/>
                <a:cs typeface="Arial"/>
              </a:rPr>
              <a:t xml:space="preserve">Reliable reporting depends on clear sources, permissions, and honest status messages.</a:t>
            </a:r>
            <a:endParaRPr lang="en-US" sz="1300"/>
          </a:p>
        </p:txBody>
      </p:sp>
      <p:sp>
        <p:nvSpPr>
          <p:cNvPr id="6" name="Connector 6"/>
          <p:cNvSpPr/>
          <p:nvPr/>
        </p:nvSpPr>
        <p:spPr>
          <a:xfrm>
            <a:off x="558800" y="6413500"/>
            <a:ext cx="11074400" cy="12700"/>
          </a:xfrm>
          <a:prstGeom prst="line">
            <a:avLst/>
          </a:prstGeom>
          <a:ln w="12700">
            <a:solidFill>
              <a:srgbClr val="DEE4EC"/>
            </a:solidFill>
          </a:ln>
        </p:spPr>
      </p:sp>
      <p:sp>
        <p:nvSpPr>
          <p:cNvPr id="7" name="Shape 7"/>
          <p:cNvSpPr/>
          <p:nvPr/>
        </p:nvSpPr>
        <p:spPr>
          <a:xfrm>
            <a:off x="558800" y="18415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8" name="Shape 8"/>
          <p:cNvSpPr/>
          <p:nvPr/>
        </p:nvSpPr>
        <p:spPr>
          <a:xfrm>
            <a:off x="584200" y="1968500"/>
            <a:ext cx="38100" cy="17272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36600" y="19939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Database-backed</a:t>
            </a:r>
            <a:endParaRPr lang="en-US" sz="1700"/>
          </a:p>
        </p:txBody>
      </p:sp>
      <p:sp>
        <p:nvSpPr>
          <p:cNvPr id="10" name="Text 10"/>
          <p:cNvSpPr txBox="1"/>
          <p:nvPr/>
        </p:nvSpPr>
        <p:spPr>
          <a:xfrm>
            <a:off x="736600" y="24257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Show the latest database response; indicate refresh time and report failures.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6210300" y="18415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2" name="Shape 12"/>
          <p:cNvSpPr/>
          <p:nvPr/>
        </p:nvSpPr>
        <p:spPr>
          <a:xfrm>
            <a:off x="6235700" y="1968500"/>
            <a:ext cx="38100" cy="1727200"/>
          </a:xfrm>
          <a:prstGeom prst="rect">
            <a:avLst/>
          </a:prstGeom>
          <a:solidFill>
            <a:srgbClr val="2872D6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6388100" y="19939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Role permissions</a:t>
            </a:r>
            <a:endParaRPr lang="en-US" sz="1700"/>
          </a:p>
        </p:txBody>
      </p:sp>
      <p:sp>
        <p:nvSpPr>
          <p:cNvPr id="14" name="Text 14"/>
          <p:cNvSpPr txBox="1"/>
          <p:nvPr/>
        </p:nvSpPr>
        <p:spPr>
          <a:xfrm>
            <a:off x="6388100" y="24257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Keep internal requests visible only to authorized roles.</a:t>
            </a:r>
            <a:endParaRPr lang="en-US" sz="1400"/>
          </a:p>
        </p:txBody>
      </p:sp>
      <p:sp>
        <p:nvSpPr>
          <p:cNvPr id="15" name="Shape 15"/>
          <p:cNvSpPr/>
          <p:nvPr/>
        </p:nvSpPr>
        <p:spPr>
          <a:xfrm>
            <a:off x="558800" y="40513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6" name="Shape 16"/>
          <p:cNvSpPr/>
          <p:nvPr/>
        </p:nvSpPr>
        <p:spPr>
          <a:xfrm>
            <a:off x="584200" y="4178300"/>
            <a:ext cx="38100" cy="1727200"/>
          </a:xfrm>
          <a:prstGeom prst="rect">
            <a:avLst/>
          </a:prstGeom>
          <a:solidFill>
            <a:srgbClr val="18956D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736600" y="42037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Privacy-aware tracking</a:t>
            </a:r>
            <a:endParaRPr lang="en-US" sz="1700"/>
          </a:p>
        </p:txBody>
      </p:sp>
      <p:sp>
        <p:nvSpPr>
          <p:cNvPr id="18" name="Text 18"/>
          <p:cNvSpPr txBox="1"/>
          <p:nvPr/>
        </p:nvSpPr>
        <p:spPr>
          <a:xfrm>
            <a:off x="736600" y="46355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Use aggregate or pseudonymous identifiers; avoid exposing raw network identifiers.</a:t>
            </a:r>
            <a:endParaRPr lang="en-US" sz="1400"/>
          </a:p>
        </p:txBody>
      </p:sp>
      <p:sp>
        <p:nvSpPr>
          <p:cNvPr id="19" name="Shape 19"/>
          <p:cNvSpPr/>
          <p:nvPr/>
        </p:nvSpPr>
        <p:spPr>
          <a:xfrm>
            <a:off x="6210300" y="40513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20" name="Shape 20"/>
          <p:cNvSpPr/>
          <p:nvPr/>
        </p:nvSpPr>
        <p:spPr>
          <a:xfrm>
            <a:off x="6235700" y="4178300"/>
            <a:ext cx="38100" cy="1727200"/>
          </a:xfrm>
          <a:prstGeom prst="rect">
            <a:avLst/>
          </a:prstGeom>
          <a:solidFill>
            <a:srgbClr val="C58B17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6388100" y="42037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Useful feedback</a:t>
            </a:r>
            <a:endParaRPr lang="en-US" sz="1700"/>
          </a:p>
        </p:txBody>
      </p:sp>
      <p:sp>
        <p:nvSpPr>
          <p:cNvPr id="22" name="Text 22"/>
          <p:cNvSpPr txBox="1"/>
          <p:nvPr/>
        </p:nvSpPr>
        <p:spPr>
          <a:xfrm>
            <a:off x="6388100" y="46355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Explain validation problems, conflicts, file limits, and service errors in plain language.</a:t>
            </a:r>
            <a:endParaRPr lang="en-US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58800" y="215900"/>
            <a:ext cx="11074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000" b="1" dirty="0">
                <a:solidFill>
                  <a:srgbClr val="C9222A"/>
                </a:solidFill>
                <a:latin typeface="Arial"/>
                <a:ea typeface="Arial"/>
                <a:cs typeface="Arial"/>
              </a:rPr>
              <a:t xml:space="preserve">MIU STUDENT CLUBS PORTAL  ·  PROJECT OVERVIEW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58800" y="546100"/>
            <a:ext cx="110744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2700" b="1" dirty="0">
                <a:solidFill>
                  <a:srgbClr val="101A2A"/>
                </a:solidFill>
                <a:latin typeface="Arial"/>
                <a:ea typeface="Arial"/>
                <a:cs typeface="Arial"/>
              </a:rPr>
              <a:t xml:space="preserve">Capabilities in the current project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58800" y="1104900"/>
            <a:ext cx="11074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300" b="0" dirty="0">
                <a:solidFill>
                  <a:srgbClr val="65738A"/>
                </a:solidFill>
                <a:latin typeface="Arial"/>
                <a:ea typeface="Arial"/>
                <a:cs typeface="Arial"/>
              </a:rPr>
              <a:t xml:space="preserve">These items are represented in the current portal implementation; confirm deployment configuration before launch.</a:t>
            </a:r>
            <a:endParaRPr lang="en-US" sz="1300"/>
          </a:p>
        </p:txBody>
      </p:sp>
      <p:sp>
        <p:nvSpPr>
          <p:cNvPr id="6" name="Connector 6"/>
          <p:cNvSpPr/>
          <p:nvPr/>
        </p:nvSpPr>
        <p:spPr>
          <a:xfrm>
            <a:off x="558800" y="6413500"/>
            <a:ext cx="11074400" cy="12700"/>
          </a:xfrm>
          <a:prstGeom prst="line">
            <a:avLst/>
          </a:prstGeom>
          <a:ln w="12700">
            <a:solidFill>
              <a:srgbClr val="DEE4EC"/>
            </a:solidFill>
          </a:ln>
        </p:spPr>
      </p:sp>
      <p:sp>
        <p:nvSpPr>
          <p:cNvPr id="7" name="Shape 7"/>
          <p:cNvSpPr/>
          <p:nvPr/>
        </p:nvSpPr>
        <p:spPr>
          <a:xfrm>
            <a:off x="558800" y="18415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8" name="Shape 8"/>
          <p:cNvSpPr/>
          <p:nvPr/>
        </p:nvSpPr>
        <p:spPr>
          <a:xfrm>
            <a:off x="584200" y="1968500"/>
            <a:ext cx="38100" cy="17272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36600" y="19939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Internal workflows</a:t>
            </a:r>
            <a:endParaRPr lang="en-US" sz="1700"/>
          </a:p>
        </p:txBody>
      </p:sp>
      <p:sp>
        <p:nvSpPr>
          <p:cNvPr id="10" name="Text 10"/>
          <p:cNvSpPr txBox="1"/>
          <p:nvPr/>
        </p:nvSpPr>
        <p:spPr>
          <a:xfrm>
            <a:off x="736600" y="24257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Separate attendance reviews and entry permits from public publishing.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6210300" y="18415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2" name="Shape 12"/>
          <p:cNvSpPr/>
          <p:nvPr/>
        </p:nvSpPr>
        <p:spPr>
          <a:xfrm>
            <a:off x="6235700" y="1968500"/>
            <a:ext cx="38100" cy="1727200"/>
          </a:xfrm>
          <a:prstGeom prst="rect">
            <a:avLst/>
          </a:prstGeom>
          <a:solidFill>
            <a:srgbClr val="2872D6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6388100" y="19939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University publishing</a:t>
            </a:r>
            <a:endParaRPr lang="en-US" sz="1700"/>
          </a:p>
        </p:txBody>
      </p:sp>
      <p:sp>
        <p:nvSpPr>
          <p:cNvPr id="14" name="Text 14"/>
          <p:cNvSpPr txBox="1"/>
          <p:nvPr/>
        </p:nvSpPr>
        <p:spPr>
          <a:xfrm>
            <a:off x="6388100" y="24257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Support MIU announcements and events with optional registration.</a:t>
            </a:r>
            <a:endParaRPr lang="en-US" sz="1400"/>
          </a:p>
        </p:txBody>
      </p:sp>
      <p:sp>
        <p:nvSpPr>
          <p:cNvPr id="15" name="Shape 15"/>
          <p:cNvSpPr/>
          <p:nvPr/>
        </p:nvSpPr>
        <p:spPr>
          <a:xfrm>
            <a:off x="558800" y="40513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6" name="Shape 16"/>
          <p:cNvSpPr/>
          <p:nvPr/>
        </p:nvSpPr>
        <p:spPr>
          <a:xfrm>
            <a:off x="584200" y="4178300"/>
            <a:ext cx="38100" cy="1727200"/>
          </a:xfrm>
          <a:prstGeom prst="rect">
            <a:avLst/>
          </a:prstGeom>
          <a:solidFill>
            <a:srgbClr val="18956D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736600" y="42037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Responsive experience</a:t>
            </a:r>
            <a:endParaRPr lang="en-US" sz="1700"/>
          </a:p>
        </p:txBody>
      </p:sp>
      <p:sp>
        <p:nvSpPr>
          <p:cNvPr id="18" name="Text 18"/>
          <p:cNvSpPr txBox="1"/>
          <p:nvPr/>
        </p:nvSpPr>
        <p:spPr>
          <a:xfrm>
            <a:off x="736600" y="46355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Support mobile layouts, dark mode, loading states, and clearer error pages.</a:t>
            </a:r>
            <a:endParaRPr lang="en-US" sz="1400"/>
          </a:p>
        </p:txBody>
      </p:sp>
      <p:sp>
        <p:nvSpPr>
          <p:cNvPr id="19" name="Shape 19"/>
          <p:cNvSpPr/>
          <p:nvPr/>
        </p:nvSpPr>
        <p:spPr>
          <a:xfrm>
            <a:off x="6210300" y="40513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20" name="Shape 20"/>
          <p:cNvSpPr/>
          <p:nvPr/>
        </p:nvSpPr>
        <p:spPr>
          <a:xfrm>
            <a:off x="6235700" y="4178300"/>
            <a:ext cx="38100" cy="1727200"/>
          </a:xfrm>
          <a:prstGeom prst="rect">
            <a:avLst/>
          </a:prstGeom>
          <a:solidFill>
            <a:srgbClr val="C58B17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6388100" y="42037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Student continuity</a:t>
            </a:r>
            <a:endParaRPr lang="en-US" sz="1700"/>
          </a:p>
        </p:txBody>
      </p:sp>
      <p:sp>
        <p:nvSpPr>
          <p:cNvPr id="22" name="Text 22"/>
          <p:cNvSpPr txBox="1"/>
          <p:nvPr/>
        </p:nvSpPr>
        <p:spPr>
          <a:xfrm>
            <a:off x="6388100" y="46355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Keep account sessions and reusable profile details for form prefill.</a:t>
            </a:r>
            <a:endParaRPr lang="en-US"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58800" y="215900"/>
            <a:ext cx="11074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000" b="1" dirty="0">
                <a:solidFill>
                  <a:srgbClr val="C9222A"/>
                </a:solidFill>
                <a:latin typeface="Arial"/>
                <a:ea typeface="Arial"/>
                <a:cs typeface="Arial"/>
              </a:rPr>
              <a:t xml:space="preserve">MIU STUDENT CLUBS PORTAL  ·  PROJECT OVERVIEW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58800" y="546100"/>
            <a:ext cx="110744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2700" b="1" dirty="0">
                <a:solidFill>
                  <a:srgbClr val="101A2A"/>
                </a:solidFill>
                <a:latin typeface="Arial"/>
                <a:ea typeface="Arial"/>
                <a:cs typeface="Arial"/>
              </a:rPr>
              <a:t xml:space="preserve">Portal mind map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58800" y="1104900"/>
            <a:ext cx="11074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300" b="0" dirty="0">
                <a:solidFill>
                  <a:srgbClr val="65738A"/>
                </a:solidFill>
                <a:latin typeface="Arial"/>
                <a:ea typeface="Arial"/>
                <a:cs typeface="Arial"/>
              </a:rPr>
              <a:t xml:space="preserve">One portal, six connected areas, and role-specific workspaces.</a:t>
            </a:r>
            <a:endParaRPr lang="en-US" sz="1300"/>
          </a:p>
        </p:txBody>
      </p:sp>
      <p:sp>
        <p:nvSpPr>
          <p:cNvPr id="6" name="Connector 6"/>
          <p:cNvSpPr/>
          <p:nvPr/>
        </p:nvSpPr>
        <p:spPr>
          <a:xfrm>
            <a:off x="558800" y="6413500"/>
            <a:ext cx="11074400" cy="12700"/>
          </a:xfrm>
          <a:prstGeom prst="line">
            <a:avLst/>
          </a:prstGeom>
          <a:ln w="12700">
            <a:solidFill>
              <a:srgbClr val="DEE4EC"/>
            </a:solidFill>
          </a:ln>
        </p:spPr>
      </p:sp>
      <p:sp>
        <p:nvSpPr>
          <p:cNvPr id="7" name="Connector 7"/>
          <p:cNvSpPr/>
          <p:nvPr/>
        </p:nvSpPr>
        <p:spPr>
          <a:xfrm>
            <a:off x="3733800" y="2324100"/>
            <a:ext cx="1473200" cy="863600"/>
          </a:xfrm>
          <a:prstGeom prst="line">
            <a:avLst/>
          </a:prstGeom>
          <a:ln w="25400">
            <a:solidFill>
              <a:srgbClr val="C4CFDC"/>
            </a:solidFill>
          </a:ln>
        </p:spPr>
      </p:sp>
      <p:sp>
        <p:nvSpPr>
          <p:cNvPr id="8" name="Connector 8"/>
          <p:cNvSpPr/>
          <p:nvPr/>
        </p:nvSpPr>
        <p:spPr>
          <a:xfrm flipV="1">
            <a:off x="3733800" y="3467100"/>
            <a:ext cx="1473200" cy="342900"/>
          </a:xfrm>
          <a:prstGeom prst="line">
            <a:avLst/>
          </a:prstGeom>
          <a:ln w="25400">
            <a:solidFill>
              <a:srgbClr val="C4CFDC"/>
            </a:solidFill>
          </a:ln>
        </p:spPr>
      </p:sp>
      <p:sp>
        <p:nvSpPr>
          <p:cNvPr id="9" name="Connector 9"/>
          <p:cNvSpPr/>
          <p:nvPr/>
        </p:nvSpPr>
        <p:spPr>
          <a:xfrm flipV="1">
            <a:off x="3733800" y="3784600"/>
            <a:ext cx="1473200" cy="1511300"/>
          </a:xfrm>
          <a:prstGeom prst="line">
            <a:avLst/>
          </a:prstGeom>
          <a:ln w="25400">
            <a:solidFill>
              <a:srgbClr val="C4CFDC"/>
            </a:solidFill>
          </a:ln>
        </p:spPr>
      </p:sp>
      <p:sp>
        <p:nvSpPr>
          <p:cNvPr id="10" name="Connector 10"/>
          <p:cNvSpPr/>
          <p:nvPr/>
        </p:nvSpPr>
        <p:spPr>
          <a:xfrm flipV="1">
            <a:off x="6985000" y="2324100"/>
            <a:ext cx="1473200" cy="863600"/>
          </a:xfrm>
          <a:prstGeom prst="line">
            <a:avLst/>
          </a:prstGeom>
          <a:ln w="25400">
            <a:solidFill>
              <a:srgbClr val="C4CFDC"/>
            </a:solidFill>
          </a:ln>
        </p:spPr>
      </p:sp>
      <p:sp>
        <p:nvSpPr>
          <p:cNvPr id="11" name="Connector 11"/>
          <p:cNvSpPr/>
          <p:nvPr/>
        </p:nvSpPr>
        <p:spPr>
          <a:xfrm>
            <a:off x="6985000" y="3467100"/>
            <a:ext cx="1473200" cy="342900"/>
          </a:xfrm>
          <a:prstGeom prst="line">
            <a:avLst/>
          </a:prstGeom>
          <a:ln w="25400">
            <a:solidFill>
              <a:srgbClr val="C4CFDC"/>
            </a:solidFill>
          </a:ln>
        </p:spPr>
      </p:sp>
      <p:sp>
        <p:nvSpPr>
          <p:cNvPr id="12" name="Connector 12"/>
          <p:cNvSpPr/>
          <p:nvPr/>
        </p:nvSpPr>
        <p:spPr>
          <a:xfrm>
            <a:off x="6985000" y="3784600"/>
            <a:ext cx="1473200" cy="1511300"/>
          </a:xfrm>
          <a:prstGeom prst="line">
            <a:avLst/>
          </a:prstGeom>
          <a:ln w="25400">
            <a:solidFill>
              <a:srgbClr val="C4CFDC"/>
            </a:solidFill>
          </a:ln>
        </p:spPr>
      </p:sp>
      <p:sp>
        <p:nvSpPr>
          <p:cNvPr id="13" name="Shape 13"/>
          <p:cNvSpPr/>
          <p:nvPr/>
        </p:nvSpPr>
        <p:spPr>
          <a:xfrm>
            <a:off x="4965700" y="2895600"/>
            <a:ext cx="2260600" cy="1041400"/>
          </a:xfrm>
          <a:prstGeom prst="roundRect">
            <a:avLst/>
          </a:prstGeom>
          <a:solidFill>
            <a:srgbClr val="101A2A"/>
          </a:solidFill>
          <a:ln w="12700">
            <a:solidFill>
              <a:srgbClr val="C9222A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5143500" y="3136900"/>
            <a:ext cx="1905000" cy="609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MIU CLUBS</a:t>
            </a:r>
            <a:endParaRPr lang="en-US" sz="1900"/>
          </a:p>
          <a:p>
            <a:pPr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PORTAL</a:t>
            </a:r>
            <a:endParaRPr lang="en-US" sz="1900"/>
          </a:p>
        </p:txBody>
      </p:sp>
      <p:sp>
        <p:nvSpPr>
          <p:cNvPr id="15" name="Shape 15"/>
          <p:cNvSpPr/>
          <p:nvPr/>
        </p:nvSpPr>
        <p:spPr>
          <a:xfrm>
            <a:off x="558800" y="1625600"/>
            <a:ext cx="3175000" cy="1308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6" name="Shape 16"/>
          <p:cNvSpPr/>
          <p:nvPr/>
        </p:nvSpPr>
        <p:spPr>
          <a:xfrm>
            <a:off x="584200" y="1752600"/>
            <a:ext cx="38100" cy="10541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736600" y="1778000"/>
            <a:ext cx="27686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Public website</a:t>
            </a:r>
            <a:endParaRPr lang="en-US" sz="1700"/>
          </a:p>
        </p:txBody>
      </p:sp>
      <p:sp>
        <p:nvSpPr>
          <p:cNvPr id="18" name="Text 18"/>
          <p:cNvSpPr txBox="1"/>
          <p:nvPr/>
        </p:nvSpPr>
        <p:spPr>
          <a:xfrm>
            <a:off x="736600" y="2209800"/>
            <a:ext cx="2768600" cy="622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1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Clubs · applications · events</a:t>
            </a:r>
            <a:endParaRPr lang="en-US" sz="1100"/>
          </a:p>
          <a:p>
            <a:pPr algn="l">
              <a:buNone/>
            </a:pPr>
            <a:r>
              <a:rPr lang="en-US" sz="11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Calendar · feed · sponsors · booths</a:t>
            </a:r>
            <a:endParaRPr lang="en-US" sz="1100"/>
          </a:p>
        </p:txBody>
      </p:sp>
      <p:sp>
        <p:nvSpPr>
          <p:cNvPr id="19" name="Shape 19"/>
          <p:cNvSpPr/>
          <p:nvPr/>
        </p:nvSpPr>
        <p:spPr>
          <a:xfrm>
            <a:off x="558800" y="3175000"/>
            <a:ext cx="3175000" cy="1308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20" name="Shape 20"/>
          <p:cNvSpPr/>
          <p:nvPr/>
        </p:nvSpPr>
        <p:spPr>
          <a:xfrm>
            <a:off x="584200" y="3302000"/>
            <a:ext cx="38100" cy="1054100"/>
          </a:xfrm>
          <a:prstGeom prst="rect">
            <a:avLst/>
          </a:prstGeom>
          <a:solidFill>
            <a:srgbClr val="2872D6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736600" y="3327400"/>
            <a:ext cx="27686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Students</a:t>
            </a:r>
            <a:endParaRPr lang="en-US" sz="1700"/>
          </a:p>
        </p:txBody>
      </p:sp>
      <p:sp>
        <p:nvSpPr>
          <p:cNvPr id="22" name="Text 22"/>
          <p:cNvSpPr txBox="1"/>
          <p:nvPr/>
        </p:nvSpPr>
        <p:spPr>
          <a:xfrm>
            <a:off x="736600" y="3759200"/>
            <a:ext cx="2768600" cy="622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1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Accounts · profile</a:t>
            </a:r>
            <a:endParaRPr lang="en-US" sz="1100"/>
          </a:p>
          <a:p>
            <a:pPr algn="l">
              <a:buNone/>
            </a:pPr>
            <a:r>
              <a:rPr lang="en-US" sz="11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Applications · event registration · QR</a:t>
            </a:r>
            <a:endParaRPr lang="en-US" sz="1100"/>
          </a:p>
        </p:txBody>
      </p:sp>
      <p:sp>
        <p:nvSpPr>
          <p:cNvPr id="23" name="Shape 23"/>
          <p:cNvSpPr/>
          <p:nvPr/>
        </p:nvSpPr>
        <p:spPr>
          <a:xfrm>
            <a:off x="558800" y="4724400"/>
            <a:ext cx="3175000" cy="1308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24" name="Shape 24"/>
          <p:cNvSpPr/>
          <p:nvPr/>
        </p:nvSpPr>
        <p:spPr>
          <a:xfrm>
            <a:off x="584200" y="4851400"/>
            <a:ext cx="38100" cy="1054100"/>
          </a:xfrm>
          <a:prstGeom prst="rect">
            <a:avLst/>
          </a:prstGeom>
          <a:solidFill>
            <a:srgbClr val="18956D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736600" y="4876800"/>
            <a:ext cx="27686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Club workspace</a:t>
            </a:r>
            <a:endParaRPr lang="en-US" sz="1700"/>
          </a:p>
        </p:txBody>
      </p:sp>
      <p:sp>
        <p:nvSpPr>
          <p:cNvPr id="26" name="Text 26"/>
          <p:cNvSpPr txBox="1"/>
          <p:nvPr/>
        </p:nvSpPr>
        <p:spPr>
          <a:xfrm>
            <a:off x="736600" y="5308600"/>
            <a:ext cx="2768600" cy="622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1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President · committee heads</a:t>
            </a:r>
            <a:endParaRPr lang="en-US" sz="1100"/>
          </a:p>
          <a:p>
            <a:pPr algn="l">
              <a:buNone/>
            </a:pPr>
            <a:r>
              <a:rPr lang="en-US" sz="11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Membership · forms · operations</a:t>
            </a:r>
            <a:endParaRPr lang="en-US" sz="1100"/>
          </a:p>
        </p:txBody>
      </p:sp>
      <p:sp>
        <p:nvSpPr>
          <p:cNvPr id="27" name="Shape 27"/>
          <p:cNvSpPr/>
          <p:nvPr/>
        </p:nvSpPr>
        <p:spPr>
          <a:xfrm>
            <a:off x="8458200" y="1498600"/>
            <a:ext cx="3175000" cy="149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28" name="Shape 28"/>
          <p:cNvSpPr/>
          <p:nvPr/>
        </p:nvSpPr>
        <p:spPr>
          <a:xfrm>
            <a:off x="8483600" y="1625600"/>
            <a:ext cx="38100" cy="12446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8636000" y="1651000"/>
            <a:ext cx="27686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Review workflows</a:t>
            </a:r>
            <a:endParaRPr lang="en-US" sz="1700"/>
          </a:p>
        </p:txBody>
      </p:sp>
      <p:sp>
        <p:nvSpPr>
          <p:cNvPr id="30" name="Text 30"/>
          <p:cNvSpPr txBox="1"/>
          <p:nvPr/>
        </p:nvSpPr>
        <p:spPr>
          <a:xfrm>
            <a:off x="8636000" y="2082800"/>
            <a:ext cx="2768600" cy="812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0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Public content: PR → English → Dean</a:t>
            </a:r>
            <a:endParaRPr lang="en-US" sz="1000"/>
          </a:p>
          <a:p>
            <a:pPr algn="l">
              <a:buNone/>
            </a:pPr>
            <a:r>
              <a:rPr lang="en-US" sz="10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Attendance: PR → SSO → Dean</a:t>
            </a:r>
            <a:endParaRPr lang="en-US" sz="1000"/>
          </a:p>
          <a:p>
            <a:pPr algn="l">
              <a:buNone/>
            </a:pPr>
            <a:r>
              <a:rPr lang="en-US" sz="10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Permit: PR → Security → PR</a:t>
            </a:r>
            <a:endParaRPr lang="en-US" sz="1000"/>
          </a:p>
        </p:txBody>
      </p:sp>
      <p:sp>
        <p:nvSpPr>
          <p:cNvPr id="31" name="Shape 31"/>
          <p:cNvSpPr/>
          <p:nvPr/>
        </p:nvSpPr>
        <p:spPr>
          <a:xfrm>
            <a:off x="8458200" y="3225800"/>
            <a:ext cx="3175000" cy="1308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32" name="Shape 32"/>
          <p:cNvSpPr/>
          <p:nvPr/>
        </p:nvSpPr>
        <p:spPr>
          <a:xfrm>
            <a:off x="8483600" y="3352800"/>
            <a:ext cx="38100" cy="1054100"/>
          </a:xfrm>
          <a:prstGeom prst="rect">
            <a:avLst/>
          </a:prstGeom>
          <a:solidFill>
            <a:srgbClr val="7255B8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8636000" y="3378200"/>
            <a:ext cx="27686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Role dashboards</a:t>
            </a:r>
            <a:endParaRPr lang="en-US" sz="1700"/>
          </a:p>
        </p:txBody>
      </p:sp>
      <p:sp>
        <p:nvSpPr>
          <p:cNvPr id="34" name="Text 34"/>
          <p:cNvSpPr txBox="1"/>
          <p:nvPr/>
        </p:nvSpPr>
        <p:spPr>
          <a:xfrm>
            <a:off x="8636000" y="3810000"/>
            <a:ext cx="2768600" cy="622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1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Global Admin · PR · English</a:t>
            </a:r>
            <a:endParaRPr lang="en-US" sz="1100"/>
          </a:p>
          <a:p>
            <a:pPr algn="l">
              <a:buNone/>
            </a:pPr>
            <a:r>
              <a:rPr lang="en-US" sz="11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Security · SSO · Dean · clubs</a:t>
            </a:r>
            <a:endParaRPr lang="en-US" sz="1100"/>
          </a:p>
        </p:txBody>
      </p:sp>
      <p:sp>
        <p:nvSpPr>
          <p:cNvPr id="35" name="Shape 35"/>
          <p:cNvSpPr/>
          <p:nvPr/>
        </p:nvSpPr>
        <p:spPr>
          <a:xfrm>
            <a:off x="8458200" y="4775200"/>
            <a:ext cx="3175000" cy="13081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36" name="Shape 36"/>
          <p:cNvSpPr/>
          <p:nvPr/>
        </p:nvSpPr>
        <p:spPr>
          <a:xfrm>
            <a:off x="8483600" y="4902200"/>
            <a:ext cx="38100" cy="1054100"/>
          </a:xfrm>
          <a:prstGeom prst="rect">
            <a:avLst/>
          </a:prstGeom>
          <a:solidFill>
            <a:srgbClr val="C58B17"/>
          </a:solidFill>
          <a:ln>
            <a:noFill/>
          </a:ln>
        </p:spPr>
      </p:sp>
      <p:sp>
        <p:nvSpPr>
          <p:cNvPr id="37" name="Text 37"/>
          <p:cNvSpPr txBox="1"/>
          <p:nvPr/>
        </p:nvSpPr>
        <p:spPr>
          <a:xfrm>
            <a:off x="8636000" y="4927600"/>
            <a:ext cx="27686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Data and analytics</a:t>
            </a:r>
            <a:endParaRPr lang="en-US" sz="1700"/>
          </a:p>
        </p:txBody>
      </p:sp>
      <p:sp>
        <p:nvSpPr>
          <p:cNvPr id="38" name="Text 38"/>
          <p:cNvSpPr txBox="1"/>
          <p:nvPr/>
        </p:nvSpPr>
        <p:spPr>
          <a:xfrm>
            <a:off x="8636000" y="5359400"/>
            <a:ext cx="2768600" cy="622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1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Database-backed records · engagement</a:t>
            </a:r>
            <a:endParaRPr lang="en-US" sz="1100"/>
          </a:p>
          <a:p>
            <a:pPr algn="l">
              <a:buNone/>
            </a:pPr>
            <a:r>
              <a:rPr lang="en-US" sz="11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Permissions · privacy · reporting</a:t>
            </a:r>
            <a:endParaRPr lang="en-US" sz="1100"/>
          </a:p>
        </p:txBody>
      </p:sp>
      <p:sp>
        <p:nvSpPr>
          <p:cNvPr id="39" name="Text 39"/>
          <p:cNvSpPr txBox="1"/>
          <p:nvPr/>
        </p:nvSpPr>
        <p:spPr>
          <a:xfrm>
            <a:off x="3721100" y="5562600"/>
            <a:ext cx="47371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>
              <a:buNone/>
            </a:pPr>
            <a:r>
              <a:rPr lang="en-US" sz="1100" b="1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Only approved public content is published; attendance and entry permits remain internal.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58800" y="215900"/>
            <a:ext cx="11074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000" b="1" dirty="0">
                <a:solidFill>
                  <a:srgbClr val="C9222A"/>
                </a:solidFill>
                <a:latin typeface="Arial"/>
                <a:ea typeface="Arial"/>
                <a:cs typeface="Arial"/>
              </a:rPr>
              <a:t xml:space="preserve">MIU STUDENT CLUBS PORTAL  ·  PROJECT OVERVIEW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58800" y="546100"/>
            <a:ext cx="110744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2700" b="1" dirty="0">
                <a:solidFill>
                  <a:srgbClr val="101A2A"/>
                </a:solidFill>
                <a:latin typeface="Arial"/>
                <a:ea typeface="Arial"/>
                <a:cs typeface="Arial"/>
              </a:rPr>
              <a:t xml:space="preserve">Ideas for the next phase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58800" y="1104900"/>
            <a:ext cx="11074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300" b="0" dirty="0">
                <a:solidFill>
                  <a:srgbClr val="65738A"/>
                </a:solidFill>
                <a:latin typeface="Arial"/>
                <a:ea typeface="Arial"/>
                <a:cs typeface="Arial"/>
              </a:rPr>
              <a:t xml:space="preserve">Future opportunities for discussion; these are proposals, not current features.</a:t>
            </a:r>
            <a:endParaRPr lang="en-US" sz="1300"/>
          </a:p>
        </p:txBody>
      </p:sp>
      <p:sp>
        <p:nvSpPr>
          <p:cNvPr id="6" name="Connector 6"/>
          <p:cNvSpPr/>
          <p:nvPr/>
        </p:nvSpPr>
        <p:spPr>
          <a:xfrm>
            <a:off x="558800" y="6413500"/>
            <a:ext cx="11074400" cy="12700"/>
          </a:xfrm>
          <a:prstGeom prst="line">
            <a:avLst/>
          </a:prstGeom>
          <a:ln w="12700">
            <a:solidFill>
              <a:srgbClr val="DEE4EC"/>
            </a:solidFill>
          </a:ln>
        </p:spPr>
      </p:sp>
      <p:sp>
        <p:nvSpPr>
          <p:cNvPr id="7" name="Shape 7"/>
          <p:cNvSpPr/>
          <p:nvPr/>
        </p:nvSpPr>
        <p:spPr>
          <a:xfrm>
            <a:off x="558800" y="1841500"/>
            <a:ext cx="3539067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8" name="Shape 8"/>
          <p:cNvSpPr/>
          <p:nvPr/>
        </p:nvSpPr>
        <p:spPr>
          <a:xfrm>
            <a:off x="584200" y="1968500"/>
            <a:ext cx="38100" cy="17272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36600" y="1993900"/>
            <a:ext cx="3132667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Notifications</a:t>
            </a:r>
            <a:endParaRPr lang="en-US" sz="1700"/>
          </a:p>
        </p:txBody>
      </p:sp>
      <p:sp>
        <p:nvSpPr>
          <p:cNvPr id="10" name="Text 10"/>
          <p:cNvSpPr txBox="1"/>
          <p:nvPr/>
        </p:nvSpPr>
        <p:spPr>
          <a:xfrm>
            <a:off x="736600" y="2425700"/>
            <a:ext cx="3132667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Notify students when applications or requests change status.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4326467" y="1841500"/>
            <a:ext cx="3539067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2" name="Shape 12"/>
          <p:cNvSpPr/>
          <p:nvPr/>
        </p:nvSpPr>
        <p:spPr>
          <a:xfrm>
            <a:off x="4351867" y="1968500"/>
            <a:ext cx="38100" cy="1727200"/>
          </a:xfrm>
          <a:prstGeom prst="rect">
            <a:avLst/>
          </a:prstGeom>
          <a:solidFill>
            <a:srgbClr val="2872D6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4504267" y="1993900"/>
            <a:ext cx="3132667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Exportable reports</a:t>
            </a:r>
            <a:endParaRPr lang="en-US" sz="1700"/>
          </a:p>
        </p:txBody>
      </p:sp>
      <p:sp>
        <p:nvSpPr>
          <p:cNvPr id="14" name="Text 14"/>
          <p:cNvSpPr txBox="1"/>
          <p:nvPr/>
        </p:nvSpPr>
        <p:spPr>
          <a:xfrm>
            <a:off x="4504267" y="2425700"/>
            <a:ext cx="3132667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Download approved analytics as CSV or PDF.</a:t>
            </a:r>
            <a:endParaRPr lang="en-US" sz="1400"/>
          </a:p>
        </p:txBody>
      </p:sp>
      <p:sp>
        <p:nvSpPr>
          <p:cNvPr id="15" name="Shape 15"/>
          <p:cNvSpPr/>
          <p:nvPr/>
        </p:nvSpPr>
        <p:spPr>
          <a:xfrm>
            <a:off x="8094133" y="1841500"/>
            <a:ext cx="3539067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6" name="Shape 16"/>
          <p:cNvSpPr/>
          <p:nvPr/>
        </p:nvSpPr>
        <p:spPr>
          <a:xfrm>
            <a:off x="8119533" y="1968500"/>
            <a:ext cx="38100" cy="1727200"/>
          </a:xfrm>
          <a:prstGeom prst="rect">
            <a:avLst/>
          </a:prstGeom>
          <a:solidFill>
            <a:srgbClr val="18956D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8271933" y="1993900"/>
            <a:ext cx="3132667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Semester filters</a:t>
            </a:r>
            <a:endParaRPr lang="en-US" sz="1700"/>
          </a:p>
        </p:txBody>
      </p:sp>
      <p:sp>
        <p:nvSpPr>
          <p:cNvPr id="18" name="Text 18"/>
          <p:cNvSpPr txBox="1"/>
          <p:nvPr/>
        </p:nvSpPr>
        <p:spPr>
          <a:xfrm>
            <a:off x="8271933" y="2425700"/>
            <a:ext cx="3132667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Compare activity by term, club, and request type.</a:t>
            </a:r>
            <a:endParaRPr lang="en-US" sz="1400"/>
          </a:p>
        </p:txBody>
      </p:sp>
      <p:sp>
        <p:nvSpPr>
          <p:cNvPr id="19" name="Shape 19"/>
          <p:cNvSpPr/>
          <p:nvPr/>
        </p:nvSpPr>
        <p:spPr>
          <a:xfrm>
            <a:off x="558800" y="4051300"/>
            <a:ext cx="3539067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20" name="Shape 20"/>
          <p:cNvSpPr/>
          <p:nvPr/>
        </p:nvSpPr>
        <p:spPr>
          <a:xfrm>
            <a:off x="584200" y="4178300"/>
            <a:ext cx="38100" cy="1727200"/>
          </a:xfrm>
          <a:prstGeom prst="rect">
            <a:avLst/>
          </a:prstGeom>
          <a:solidFill>
            <a:srgbClr val="C58B17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736600" y="4203700"/>
            <a:ext cx="3132667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Calendar reminders</a:t>
            </a:r>
            <a:endParaRPr lang="en-US" sz="1700"/>
          </a:p>
        </p:txBody>
      </p:sp>
      <p:sp>
        <p:nvSpPr>
          <p:cNvPr id="22" name="Text 22"/>
          <p:cNvSpPr txBox="1"/>
          <p:nvPr/>
        </p:nvSpPr>
        <p:spPr>
          <a:xfrm>
            <a:off x="736600" y="4635500"/>
            <a:ext cx="3132667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Offer optional personal calendar reminders for events.</a:t>
            </a:r>
            <a:endParaRPr lang="en-US" sz="1400"/>
          </a:p>
        </p:txBody>
      </p:sp>
      <p:sp>
        <p:nvSpPr>
          <p:cNvPr id="23" name="Shape 23"/>
          <p:cNvSpPr/>
          <p:nvPr/>
        </p:nvSpPr>
        <p:spPr>
          <a:xfrm>
            <a:off x="4326467" y="4051300"/>
            <a:ext cx="3539067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24" name="Shape 24"/>
          <p:cNvSpPr/>
          <p:nvPr/>
        </p:nvSpPr>
        <p:spPr>
          <a:xfrm>
            <a:off x="4351867" y="4178300"/>
            <a:ext cx="38100" cy="1727200"/>
          </a:xfrm>
          <a:prstGeom prst="rect">
            <a:avLst/>
          </a:prstGeom>
          <a:solidFill>
            <a:srgbClr val="7255B8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4504267" y="4203700"/>
            <a:ext cx="3132667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Student feedback</a:t>
            </a:r>
            <a:endParaRPr lang="en-US" sz="1700"/>
          </a:p>
        </p:txBody>
      </p:sp>
      <p:sp>
        <p:nvSpPr>
          <p:cNvPr id="26" name="Text 26"/>
          <p:cNvSpPr txBox="1"/>
          <p:nvPr/>
        </p:nvSpPr>
        <p:spPr>
          <a:xfrm>
            <a:off x="4504267" y="4635500"/>
            <a:ext cx="3132667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Collect short post-event satisfaction surveys.</a:t>
            </a:r>
            <a:endParaRPr lang="en-US" sz="1400"/>
          </a:p>
        </p:txBody>
      </p:sp>
      <p:sp>
        <p:nvSpPr>
          <p:cNvPr id="27" name="Shape 27"/>
          <p:cNvSpPr/>
          <p:nvPr/>
        </p:nvSpPr>
        <p:spPr>
          <a:xfrm>
            <a:off x="8094133" y="4051300"/>
            <a:ext cx="3539067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28" name="Shape 28"/>
          <p:cNvSpPr/>
          <p:nvPr/>
        </p:nvSpPr>
        <p:spPr>
          <a:xfrm>
            <a:off x="8119533" y="4178300"/>
            <a:ext cx="38100" cy="17272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8271933" y="4203700"/>
            <a:ext cx="3132667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Student dashboard</a:t>
            </a:r>
            <a:endParaRPr lang="en-US" sz="1700"/>
          </a:p>
        </p:txBody>
      </p:sp>
      <p:sp>
        <p:nvSpPr>
          <p:cNvPr id="30" name="Text 30"/>
          <p:cNvSpPr txBox="1"/>
          <p:nvPr/>
        </p:nvSpPr>
        <p:spPr>
          <a:xfrm>
            <a:off x="8271933" y="4635500"/>
            <a:ext cx="3132667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Bring registrations, applications, and reminders into one personal view.</a:t>
            </a:r>
            <a:endParaRPr lang="en-US"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58800" y="215900"/>
            <a:ext cx="11074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000" b="1" dirty="0">
                <a:solidFill>
                  <a:srgbClr val="C9222A"/>
                </a:solidFill>
                <a:latin typeface="Arial"/>
                <a:ea typeface="Arial"/>
                <a:cs typeface="Arial"/>
              </a:rPr>
              <a:t xml:space="preserve">MIU STUDENT CLUBS PORTAL  ·  PROJECT OVERVIEW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58800" y="546100"/>
            <a:ext cx="110744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2700" b="1" dirty="0">
                <a:solidFill>
                  <a:srgbClr val="101A2A"/>
                </a:solidFill>
                <a:latin typeface="Arial"/>
                <a:ea typeface="Arial"/>
                <a:cs typeface="Arial"/>
              </a:rPr>
              <a:t xml:space="preserve">A phased roadmap to discuss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58800" y="1104900"/>
            <a:ext cx="11074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300" b="0" dirty="0">
                <a:solidFill>
                  <a:srgbClr val="65738A"/>
                </a:solidFill>
                <a:latin typeface="Arial"/>
                <a:ea typeface="Arial"/>
                <a:cs typeface="Arial"/>
              </a:rPr>
              <a:t xml:space="preserve">A staged approach can reduce risk and make progress measurable.</a:t>
            </a:r>
            <a:endParaRPr lang="en-US" sz="1300"/>
          </a:p>
        </p:txBody>
      </p:sp>
      <p:sp>
        <p:nvSpPr>
          <p:cNvPr id="6" name="Connector 6"/>
          <p:cNvSpPr/>
          <p:nvPr/>
        </p:nvSpPr>
        <p:spPr>
          <a:xfrm>
            <a:off x="558800" y="6413500"/>
            <a:ext cx="11074400" cy="12700"/>
          </a:xfrm>
          <a:prstGeom prst="line">
            <a:avLst/>
          </a:prstGeom>
          <a:ln w="12700">
            <a:solidFill>
              <a:srgbClr val="DEE4EC"/>
            </a:solidFill>
          </a:ln>
        </p:spPr>
      </p:sp>
      <p:sp>
        <p:nvSpPr>
          <p:cNvPr id="7" name="Shape 7"/>
          <p:cNvSpPr/>
          <p:nvPr/>
        </p:nvSpPr>
        <p:spPr>
          <a:xfrm>
            <a:off x="558800" y="1841500"/>
            <a:ext cx="3539067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8" name="Shape 8"/>
          <p:cNvSpPr/>
          <p:nvPr/>
        </p:nvSpPr>
        <p:spPr>
          <a:xfrm>
            <a:off x="584200" y="1968500"/>
            <a:ext cx="38100" cy="39370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36600" y="1993900"/>
            <a:ext cx="3132667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Phase 1 · Strengthen the core</a:t>
            </a:r>
            <a:endParaRPr lang="en-US" sz="1700"/>
          </a:p>
        </p:txBody>
      </p:sp>
      <p:sp>
        <p:nvSpPr>
          <p:cNvPr id="10" name="Text 10"/>
          <p:cNvSpPr txBox="1"/>
          <p:nvPr/>
        </p:nvSpPr>
        <p:spPr>
          <a:xfrm>
            <a:off x="736600" y="2425700"/>
            <a:ext cx="3132667" cy="3505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Validate permissions and workflows; improve mobile usability; document operations.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4326467" y="1841500"/>
            <a:ext cx="3539067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2" name="Shape 12"/>
          <p:cNvSpPr/>
          <p:nvPr/>
        </p:nvSpPr>
        <p:spPr>
          <a:xfrm>
            <a:off x="4351867" y="1968500"/>
            <a:ext cx="38100" cy="3937000"/>
          </a:xfrm>
          <a:prstGeom prst="rect">
            <a:avLst/>
          </a:prstGeom>
          <a:solidFill>
            <a:srgbClr val="2872D6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4504267" y="1993900"/>
            <a:ext cx="3132667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Phase 2 · Improve follow-up</a:t>
            </a:r>
            <a:endParaRPr lang="en-US" sz="1700"/>
          </a:p>
        </p:txBody>
      </p:sp>
      <p:sp>
        <p:nvSpPr>
          <p:cNvPr id="14" name="Text 14"/>
          <p:cNvSpPr txBox="1"/>
          <p:nvPr/>
        </p:nvSpPr>
        <p:spPr>
          <a:xfrm>
            <a:off x="4504267" y="2425700"/>
            <a:ext cx="3132667" cy="3505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Consider notifications, exportable reports, term filters, and a student dashboard.</a:t>
            </a:r>
            <a:endParaRPr lang="en-US" sz="1400"/>
          </a:p>
        </p:txBody>
      </p:sp>
      <p:sp>
        <p:nvSpPr>
          <p:cNvPr id="15" name="Shape 15"/>
          <p:cNvSpPr/>
          <p:nvPr/>
        </p:nvSpPr>
        <p:spPr>
          <a:xfrm>
            <a:off x="8094133" y="1841500"/>
            <a:ext cx="3539067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6" name="Shape 16"/>
          <p:cNvSpPr/>
          <p:nvPr/>
        </p:nvSpPr>
        <p:spPr>
          <a:xfrm>
            <a:off x="8119533" y="1968500"/>
            <a:ext cx="38100" cy="3937000"/>
          </a:xfrm>
          <a:prstGeom prst="rect">
            <a:avLst/>
          </a:prstGeom>
          <a:solidFill>
            <a:srgbClr val="18956D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8271933" y="1993900"/>
            <a:ext cx="3132667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Phase 3 · Integrate and measure</a:t>
            </a:r>
            <a:endParaRPr lang="en-US" sz="1700"/>
          </a:p>
        </p:txBody>
      </p:sp>
      <p:sp>
        <p:nvSpPr>
          <p:cNvPr id="18" name="Text 18"/>
          <p:cNvSpPr txBox="1"/>
          <p:nvPr/>
        </p:nvSpPr>
        <p:spPr>
          <a:xfrm>
            <a:off x="8271933" y="2425700"/>
            <a:ext cx="3132667" cy="3505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Evaluate calendar integration and feedback surveys; agree on success measures.</a:t>
            </a:r>
            <a:endParaRPr lang="en-US"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58800" y="215900"/>
            <a:ext cx="110744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000" b="1" dirty="0">
                <a:solidFill>
                  <a:srgbClr val="C9222A"/>
                </a:solidFill>
                <a:latin typeface="Arial"/>
                <a:ea typeface="Arial"/>
                <a:cs typeface="Arial"/>
              </a:rPr>
              <a:t xml:space="preserve">MIU STUDENT CLUBS PORTAL  ·  PROJECT OVERVIEW</a:t>
            </a:r>
            <a:endParaRPr lang="en-US" sz="1000"/>
          </a:p>
        </p:txBody>
      </p:sp>
      <p:sp>
        <p:nvSpPr>
          <p:cNvPr id="4" name="Text 4"/>
          <p:cNvSpPr txBox="1"/>
          <p:nvPr/>
        </p:nvSpPr>
        <p:spPr>
          <a:xfrm>
            <a:off x="558800" y="546100"/>
            <a:ext cx="110744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2700" b="1" dirty="0">
                <a:solidFill>
                  <a:srgbClr val="101A2A"/>
                </a:solidFill>
                <a:latin typeface="Arial"/>
                <a:ea typeface="Arial"/>
                <a:cs typeface="Arial"/>
              </a:rPr>
              <a:t xml:space="preserve">How to measure success</a:t>
            </a:r>
            <a:endParaRPr lang="en-US" sz="2700"/>
          </a:p>
        </p:txBody>
      </p:sp>
      <p:sp>
        <p:nvSpPr>
          <p:cNvPr id="5" name="Text 5"/>
          <p:cNvSpPr txBox="1"/>
          <p:nvPr/>
        </p:nvSpPr>
        <p:spPr>
          <a:xfrm>
            <a:off x="558800" y="1104900"/>
            <a:ext cx="110744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300" b="0" dirty="0">
                <a:solidFill>
                  <a:srgbClr val="65738A"/>
                </a:solidFill>
                <a:latin typeface="Arial"/>
                <a:ea typeface="Arial"/>
                <a:cs typeface="Arial"/>
              </a:rPr>
              <a:t xml:space="preserve">Set a baseline first, then agree on targets with the university and club stakeholders.</a:t>
            </a:r>
            <a:endParaRPr lang="en-US" sz="1300"/>
          </a:p>
        </p:txBody>
      </p:sp>
      <p:sp>
        <p:nvSpPr>
          <p:cNvPr id="6" name="Connector 6"/>
          <p:cNvSpPr/>
          <p:nvPr/>
        </p:nvSpPr>
        <p:spPr>
          <a:xfrm>
            <a:off x="558800" y="6413500"/>
            <a:ext cx="11074400" cy="12700"/>
          </a:xfrm>
          <a:prstGeom prst="line">
            <a:avLst/>
          </a:prstGeom>
          <a:ln w="12700">
            <a:solidFill>
              <a:srgbClr val="DEE4EC"/>
            </a:solidFill>
          </a:ln>
        </p:spPr>
      </p:sp>
      <p:sp>
        <p:nvSpPr>
          <p:cNvPr id="7" name="Shape 7"/>
          <p:cNvSpPr/>
          <p:nvPr/>
        </p:nvSpPr>
        <p:spPr>
          <a:xfrm>
            <a:off x="558800" y="18415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8" name="Shape 8"/>
          <p:cNvSpPr/>
          <p:nvPr/>
        </p:nvSpPr>
        <p:spPr>
          <a:xfrm>
            <a:off x="584200" y="1968500"/>
            <a:ext cx="38100" cy="17272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36600" y="19939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Reach</a:t>
            </a:r>
            <a:endParaRPr lang="en-US" sz="1700"/>
          </a:p>
        </p:txBody>
      </p:sp>
      <p:sp>
        <p:nvSpPr>
          <p:cNvPr id="10" name="Text 10"/>
          <p:cNvSpPr txBox="1"/>
          <p:nvPr/>
        </p:nvSpPr>
        <p:spPr>
          <a:xfrm>
            <a:off x="736600" y="24257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Unique visits, club page views, and the share of students reached.</a:t>
            </a:r>
            <a:endParaRPr lang="en-US" sz="1400"/>
          </a:p>
        </p:txBody>
      </p:sp>
      <p:sp>
        <p:nvSpPr>
          <p:cNvPr id="11" name="Shape 11"/>
          <p:cNvSpPr/>
          <p:nvPr/>
        </p:nvSpPr>
        <p:spPr>
          <a:xfrm>
            <a:off x="6210300" y="18415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2" name="Shape 12"/>
          <p:cNvSpPr/>
          <p:nvPr/>
        </p:nvSpPr>
        <p:spPr>
          <a:xfrm>
            <a:off x="6235700" y="1968500"/>
            <a:ext cx="38100" cy="1727200"/>
          </a:xfrm>
          <a:prstGeom prst="rect">
            <a:avLst/>
          </a:prstGeom>
          <a:solidFill>
            <a:srgbClr val="2872D6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6388100" y="19939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Participation</a:t>
            </a:r>
            <a:endParaRPr lang="en-US" sz="1700"/>
          </a:p>
        </p:txBody>
      </p:sp>
      <p:sp>
        <p:nvSpPr>
          <p:cNvPr id="14" name="Text 14"/>
          <p:cNvSpPr txBox="1"/>
          <p:nvPr/>
        </p:nvSpPr>
        <p:spPr>
          <a:xfrm>
            <a:off x="6388100" y="24257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Completed club applications, event registrations, and QR check-ins.</a:t>
            </a:r>
            <a:endParaRPr lang="en-US" sz="1400"/>
          </a:p>
        </p:txBody>
      </p:sp>
      <p:sp>
        <p:nvSpPr>
          <p:cNvPr id="15" name="Shape 15"/>
          <p:cNvSpPr/>
          <p:nvPr/>
        </p:nvSpPr>
        <p:spPr>
          <a:xfrm>
            <a:off x="558800" y="40513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16" name="Shape 16"/>
          <p:cNvSpPr/>
          <p:nvPr/>
        </p:nvSpPr>
        <p:spPr>
          <a:xfrm>
            <a:off x="584200" y="4178300"/>
            <a:ext cx="38100" cy="1727200"/>
          </a:xfrm>
          <a:prstGeom prst="rect">
            <a:avLst/>
          </a:prstGeom>
          <a:solidFill>
            <a:srgbClr val="18956D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736600" y="42037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Efficiency</a:t>
            </a:r>
            <a:endParaRPr lang="en-US" sz="1700"/>
          </a:p>
        </p:txBody>
      </p:sp>
      <p:sp>
        <p:nvSpPr>
          <p:cNvPr id="18" name="Text 18"/>
          <p:cNvSpPr txBox="1"/>
          <p:nvPr/>
        </p:nvSpPr>
        <p:spPr>
          <a:xfrm>
            <a:off x="736600" y="46355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Review turnaround time, pending-request age, and resubmission rates.</a:t>
            </a:r>
            <a:endParaRPr lang="en-US" sz="1400"/>
          </a:p>
        </p:txBody>
      </p:sp>
      <p:sp>
        <p:nvSpPr>
          <p:cNvPr id="19" name="Shape 19"/>
          <p:cNvSpPr/>
          <p:nvPr/>
        </p:nvSpPr>
        <p:spPr>
          <a:xfrm>
            <a:off x="6210300" y="4051300"/>
            <a:ext cx="5422900" cy="198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6EE"/>
            </a:solidFill>
          </a:ln>
        </p:spPr>
      </p:sp>
      <p:sp>
        <p:nvSpPr>
          <p:cNvPr id="20" name="Shape 20"/>
          <p:cNvSpPr/>
          <p:nvPr/>
        </p:nvSpPr>
        <p:spPr>
          <a:xfrm>
            <a:off x="6235700" y="4178300"/>
            <a:ext cx="38100" cy="1727200"/>
          </a:xfrm>
          <a:prstGeom prst="rect">
            <a:avLst/>
          </a:prstGeom>
          <a:solidFill>
            <a:srgbClr val="C58B17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6388100" y="4203700"/>
            <a:ext cx="501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700" b="1" dirty="0">
                <a:solidFill>
                  <a:srgbClr val="142033"/>
                </a:solidFill>
                <a:latin typeface="Arial"/>
                <a:ea typeface="Arial"/>
                <a:cs typeface="Arial"/>
              </a:rPr>
              <a:t xml:space="preserve">Experience</a:t>
            </a:r>
            <a:endParaRPr lang="en-US" sz="1700"/>
          </a:p>
        </p:txBody>
      </p:sp>
      <p:sp>
        <p:nvSpPr>
          <p:cNvPr id="22" name="Text 22"/>
          <p:cNvSpPr txBox="1"/>
          <p:nvPr/>
        </p:nvSpPr>
        <p:spPr>
          <a:xfrm>
            <a:off x="6388100" y="4635500"/>
            <a:ext cx="5016500" cy="1295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400" b="0" dirty="0">
                <a:solidFill>
                  <a:srgbClr val="536176"/>
                </a:solidFill>
                <a:latin typeface="Arial"/>
                <a:ea typeface="Arial"/>
                <a:cs typeface="Arial"/>
              </a:rPr>
              <a:t xml:space="preserve">Mobile completion, error rates, and student and club feedback.</a:t>
            </a:r>
            <a:endParaRPr lang="en-US"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9222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9448800" y="1016000"/>
            <a:ext cx="1905000" cy="1905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4" name="MIU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6600" y="1397000"/>
            <a:ext cx="1549400" cy="1143000"/>
          </a:xfrm>
          <a:prstGeom prst="rect">
            <a:avLst/>
          </a:prstGeom>
        </p:spPr>
      </p:pic>
      <p:sp>
        <p:nvSpPr>
          <p:cNvPr id="5" name="Text 5"/>
          <p:cNvSpPr txBox="1"/>
          <p:nvPr/>
        </p:nvSpPr>
        <p:spPr>
          <a:xfrm>
            <a:off x="736600" y="1778000"/>
            <a:ext cx="8255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2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One portal for a more connected campus-club experience</a:t>
            </a:r>
            <a:endParaRPr lang="en-US" sz="2900"/>
          </a:p>
        </p:txBody>
      </p:sp>
      <p:sp>
        <p:nvSpPr>
          <p:cNvPr id="6" name="Text 6"/>
          <p:cNvSpPr txBox="1"/>
          <p:nvPr/>
        </p:nvSpPr>
        <p:spPr>
          <a:xfrm>
            <a:off x="736600" y="2832100"/>
            <a:ext cx="8255000" cy="863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2000" b="0" dirty="0">
                <a:solidFill>
                  <a:srgbClr val="D4DCE8"/>
                </a:solidFill>
                <a:latin typeface="Arial"/>
                <a:ea typeface="Arial"/>
                <a:cs typeface="Arial"/>
              </a:rPr>
              <a:t xml:space="preserve">Easier discovery for students. Clearer operations for clubs.</a:t>
            </a:r>
            <a:endParaRPr lang="en-US" sz="2000"/>
          </a:p>
          <a:p>
            <a:pPr algn="l">
              <a:buNone/>
            </a:pPr>
            <a:r>
              <a:rPr lang="en-US" sz="2000" b="0" dirty="0">
                <a:solidFill>
                  <a:srgbClr val="D4DCE8"/>
                </a:solidFill>
                <a:latin typeface="Arial"/>
                <a:ea typeface="Arial"/>
                <a:cs typeface="Arial"/>
              </a:rPr>
              <a:t xml:space="preserve">More useful oversight and insight for the university.</a:t>
            </a:r>
            <a:endParaRPr lang="en-US" sz="2000"/>
          </a:p>
        </p:txBody>
      </p:sp>
      <p:sp>
        <p:nvSpPr>
          <p:cNvPr id="7" name="Text 7"/>
          <p:cNvSpPr txBox="1"/>
          <p:nvPr/>
        </p:nvSpPr>
        <p:spPr>
          <a:xfrm>
            <a:off x="736600" y="4445000"/>
            <a:ext cx="8255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500" b="1" dirty="0">
                <a:solidFill>
                  <a:srgbClr val="FFB6B8"/>
                </a:solidFill>
                <a:latin typeface="Arial"/>
                <a:ea typeface="Arial"/>
                <a:cs typeface="Arial"/>
              </a:rPr>
              <a:t xml:space="preserve">Discussion points</a:t>
            </a:r>
            <a:endParaRPr lang="en-US" sz="1500"/>
          </a:p>
        </p:txBody>
      </p:sp>
      <p:sp>
        <p:nvSpPr>
          <p:cNvPr id="8" name="Text 8"/>
          <p:cNvSpPr txBox="1"/>
          <p:nvPr/>
        </p:nvSpPr>
        <p:spPr>
          <a:xfrm>
            <a:off x="736600" y="4953000"/>
            <a:ext cx="8255000" cy="1092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5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• Confirm workflow owners and permissions</a:t>
            </a:r>
            <a:endParaRPr lang="en-US" sz="1500"/>
          </a:p>
          <a:p>
            <a:pPr algn="l">
              <a:buNone/>
            </a:pPr>
            <a:r>
              <a:rPr lang="en-US" sz="15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• Select two priorities for the next phase</a:t>
            </a:r>
            <a:endParaRPr lang="en-US" sz="1500"/>
          </a:p>
          <a:p>
            <a:pPr algn="l">
              <a:buNone/>
            </a:pPr>
            <a:r>
              <a:rPr lang="en-US" sz="15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 xml:space="preserve">• Agree on baseline measures for the academic term</a:t>
            </a:r>
            <a:endParaRPr lang="en-US" sz="1500"/>
          </a:p>
        </p:txBody>
      </p:sp>
      <p:sp>
        <p:nvSpPr>
          <p:cNvPr id="9" name="Text 9"/>
          <p:cNvSpPr txBox="1"/>
          <p:nvPr/>
        </p:nvSpPr>
        <p:spPr>
          <a:xfrm>
            <a:off x="736600" y="6426200"/>
            <a:ext cx="8255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>
              <a:buNone/>
            </a:pPr>
            <a:r>
              <a:rPr lang="en-US" sz="1000" b="0" dirty="0">
                <a:solidFill>
                  <a:srgbClr val="A8B5C7"/>
                </a:solidFill>
                <a:latin typeface="Arial"/>
                <a:ea typeface="Arial"/>
                <a:cs typeface="Arial"/>
              </a:rPr>
              <a:t xml:space="preserve">MIU STUDENT CLUBS PORTAL  ·  2026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U Club Portal">
  <a:themeElements>
    <a:clrScheme name="MIU">
      <a:dk1>
        <a:srgbClr val="101A2A"/>
      </a:dk1>
      <a:lt1>
        <a:srgbClr val="FFFFFF"/>
      </a:lt1>
      <a:dk2>
        <a:srgbClr val="142033"/>
      </a:dk2>
      <a:lt2>
        <a:srgbClr val="F5F7FA"/>
      </a:lt2>
      <a:accent1>
        <a:srgbClr val="C9222A"/>
      </a:accent1>
      <a:accent2>
        <a:srgbClr val="2872D6"/>
      </a:accent2>
      <a:accent3>
        <a:srgbClr val="18956D"/>
      </a:accent3>
      <a:accent4>
        <a:srgbClr val="C58B17"/>
      </a:accent4>
      <a:accent5>
        <a:srgbClr val="7255B8"/>
      </a:accent5>
      <a:accent6>
        <a:srgbClr val="536176"/>
      </a:accent6>
      <a:hlink>
        <a:srgbClr val="C9222A"/>
      </a:hlink>
      <a:folHlink>
        <a:srgbClr val="7255B8"/>
      </a:folHlink>
    </a:clrScheme>
    <a:fontScheme name="MIU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MIU">
      <a:fillStyleLst>
        <a:solidFill>
          <a:schemeClr val="phClr"/>
        </a:solidFill>
        <a:solidFill>
          <a:schemeClr val="phClr">
            <a:tint val="50000"/>
            <a:satMod val="300000"/>
          </a:schemeClr>
        </a:solidFill>
        <a:solidFill>
          <a:schemeClr val="phClr">
            <a:tint val="15000"/>
            <a:satMod val="350000"/>
          </a:schemeClr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tint val="90000"/>
            <a:satMod val="15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MIU Student Clubs Portal</dc:title>
  <dc:subject>University presentation and platform mind map</dc:subject>
  <dc:creator>MIU Student Clubs Portal</dc:creator>
  <dcterms:created xsi:type="dcterms:W3CDTF">2026-10-10T00:00:00Z</dcterms:created>
</cp:coreProperties>
</file>